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600" b="1" i="0">
                <a:solidFill>
                  <a:srgbClr val="FFFFFF"/>
                </a:solidFill>
                <a:latin typeface="Cambria"/>
              </a:rPr>
              <a:t>Mihenk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BF5B26"/>
                </a:solidFill>
                <a:latin typeface="Cambria"/>
              </a:rPr>
              <a:t>Bir veri platformunu sıfırdan kurmak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9CCD2"/>
                </a:solidFill>
                <a:latin typeface="Calibri"/>
              </a:rPr>
              <a:t>Otomotiv distribütörü senaryosu · Microsoft Fabric · adım adım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572000"/>
            <a:ext cx="457200" cy="41148"/>
          </a:xfrm>
          <a:prstGeom prst="rect">
            <a:avLst/>
          </a:prstGeom>
          <a:solidFill>
            <a:srgbClr val="BF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8A8F98"/>
                </a:solidFill>
                <a:latin typeface="Calibri"/>
              </a:rPr>
              <a:t>Burak Önce   ·   github.com/BurakOnce/Mihenk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BF5B26"/>
                </a:solidFill>
                <a:latin typeface="Calibri"/>
              </a:rPr>
              <a:t>BAŞLANGIÇ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Hayali bir şirket, gerçek bir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200"/>
              </a:lnSpc>
            </a:pPr>
            <a:r>
              <a:rPr sz="1400" b="0" i="0">
                <a:solidFill>
                  <a:srgbClr val="444B57"/>
                </a:solidFill>
                <a:latin typeface="Calibri"/>
              </a:rPr>
              <a:t>40 bayisi olan bir otomobil distribütörü: araba satıyor, servis veriyor, yedek parça alıyor. Altı ayrı programı var — bayi, müşteri, servis, parça, merkez portalı, muhasebe. Her biri kendi tarzında kayıt tutuyor.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953512"/>
            <a:ext cx="118872" cy="118872"/>
          </a:xfrm>
          <a:prstGeom prst="ellipse">
            <a:avLst/>
          </a:prstGeom>
          <a:solidFill>
            <a:srgbClr val="BF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6126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</a:pPr>
            <a:r>
              <a:rPr sz="1300" b="0" i="0">
                <a:solidFill>
                  <a:srgbClr val="444B57"/>
                </a:solidFill>
                <a:latin typeface="Calibri"/>
              </a:rPr>
              <a:t>"Kaç müşterimiz var?" — aynı kişi iki programda iki ayrı kayıt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828"/>
            <a:ext cx="118872" cy="118872"/>
          </a:xfrm>
          <a:prstGeom prst="ellipse">
            <a:avLst/>
          </a:prstGeom>
          <a:solidFill>
            <a:srgbClr val="BF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9676"/>
            <a:ext cx="6126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</a:pPr>
            <a:r>
              <a:rPr sz="1300" b="0" i="0">
                <a:solidFill>
                  <a:srgbClr val="444B57"/>
                </a:solidFill>
                <a:latin typeface="Calibri"/>
              </a:rPr>
              <a:t>"Servisimiz neden yavaş?" — toplam süre her şeyi gizliyor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692143"/>
            <a:ext cx="118872" cy="118872"/>
          </a:xfrm>
          <a:prstGeom prst="ellipse">
            <a:avLst/>
          </a:prstGeom>
          <a:solidFill>
            <a:srgbClr val="BF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18992"/>
            <a:ext cx="6126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</a:pPr>
            <a:r>
              <a:rPr sz="1300" b="0" i="0">
                <a:solidFill>
                  <a:srgbClr val="444B57"/>
                </a:solidFill>
                <a:latin typeface="Calibri"/>
              </a:rPr>
              <a:t>"Hangi arabalar stokta bekliyor?" — satış programı sadece satılanı biliyor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508760"/>
            <a:ext cx="3977639" cy="329184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17830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BF5B26"/>
                </a:solidFill>
                <a:latin typeface="Calibri"/>
              </a:rPr>
              <a:t>AMAÇ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121408"/>
            <a:ext cx="33832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</a:pPr>
            <a:r>
              <a:rPr sz="1300" b="0" i="0">
                <a:solidFill>
                  <a:srgbClr val="444B57"/>
                </a:solidFill>
                <a:latin typeface="Calibri"/>
              </a:rPr>
              <a:t>Bu altı programın verisini tek yerde toplamak, temizlemek, birleştirmek ve yöneticinin sorularına cevap veren bir rapora dönüştürmek.</a:t>
            </a:r>
          </a:p>
          <a:p>
            <a:pPr>
              <a:lnSpc>
                <a:spcPts val="2000"/>
              </a:lnSpc>
            </a:pPr>
            <a:r>
              <a:rPr sz="1300" b="0" i="0">
                <a:solidFill>
                  <a:srgbClr val="444B57"/>
                </a:solidFill>
                <a:latin typeface="Calibri"/>
              </a:rPr>
              <a:t/>
            </a:r>
          </a:p>
          <a:p>
            <a:pPr>
              <a:lnSpc>
                <a:spcPts val="2000"/>
              </a:lnSpc>
            </a:pPr>
            <a:r>
              <a:rPr sz="1300" b="0" i="0">
                <a:solidFill>
                  <a:srgbClr val="444B57"/>
                </a:solidFill>
                <a:latin typeface="Calibri"/>
              </a:rPr>
              <a:t>Ve bunu gerçekten çalıştırmak — kâğıt üzerinde değil.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</a:pPr>
            <a:r>
              <a:rPr sz="1200" b="0" i="1">
                <a:solidFill>
                  <a:srgbClr val="8A8F98"/>
                </a:solidFill>
                <a:latin typeface="Calibri"/>
              </a:rPr>
              <a:t>Bu projeye kadar ne Spark ne Fabric kullanmıştım. AI destekli çalıştım — kod yazma hızı için. Her kararı ben verdim, her şeyi ben kurdum ve çalıştırdım, her sayıyı ben kontrol ettim.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BF5B26"/>
                </a:solidFill>
                <a:latin typeface="Calibri"/>
              </a:rPr>
              <a:t>ADIM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Önce veriyi kendim ürettim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</a:pPr>
            <a:r>
              <a:rPr sz="1350" b="0" i="0">
                <a:solidFill>
                  <a:srgbClr val="444B57"/>
                </a:solidFill>
                <a:latin typeface="Calibri"/>
              </a:rPr>
              <a:t>Gerçek şirket verim yoktu. Bir Python programı yazdım; altı sistemin üç yıl boyunca üreteceği bütün dosyaları üretiyor.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150" b="0" i="0">
                <a:solidFill>
                  <a:srgbClr val="8A8F98"/>
                </a:solidFill>
                <a:latin typeface="Calibri"/>
              </a:rPr>
              <a:t>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6060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BF5B26"/>
                </a:solidFill>
                <a:latin typeface="Cambria"/>
              </a:rPr>
              <a:t>2.326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1546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150" b="0" i="0">
                <a:solidFill>
                  <a:srgbClr val="8A8F98"/>
                </a:solidFill>
                <a:latin typeface="Calibri"/>
              </a:rPr>
              <a:t>dosya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6060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150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1546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150" b="0" i="0">
                <a:solidFill>
                  <a:srgbClr val="8A8F98"/>
                </a:solidFill>
                <a:latin typeface="Calibri"/>
              </a:rPr>
              <a:t>üç yıl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8A8F98"/>
                </a:solidFill>
                <a:latin typeface="Calibri"/>
              </a:rPr>
              <a:t>Her sistem kendi formatında yazıyor: biri tablo, biri metin, biri eski Türkçe karakter sistemiyle. Gerçek hayattaki gibi.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508760"/>
            <a:ext cx="4800600" cy="429768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7556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BF5B26"/>
                </a:solidFill>
                <a:latin typeface="Calibri"/>
              </a:rPr>
              <a:t>BİLEREK HATA KOYDUM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2221992"/>
            <a:ext cx="118872" cy="118872"/>
          </a:xfrm>
          <a:prstGeom prst="ellipse">
            <a:avLst/>
          </a:prstGeom>
          <a:solidFill>
            <a:srgbClr val="BF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14884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444B57"/>
                </a:solidFill>
                <a:latin typeface="Calibri"/>
              </a:rPr>
              <a:t>Yanlış yazılmış şase numaraları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0" y="2565908"/>
            <a:ext cx="118872" cy="118872"/>
          </a:xfrm>
          <a:prstGeom prst="ellipse">
            <a:avLst/>
          </a:prstGeom>
          <a:solidFill>
            <a:srgbClr val="BF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492756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444B57"/>
                </a:solidFill>
                <a:latin typeface="Calibri"/>
              </a:rPr>
              <a:t>Geri giden kilometre sayaçları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0" y="2909824"/>
            <a:ext cx="118872" cy="118872"/>
          </a:xfrm>
          <a:prstGeom prst="ellipse">
            <a:avLst/>
          </a:prstGeom>
          <a:solidFill>
            <a:srgbClr val="BF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836672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444B57"/>
                </a:solidFill>
                <a:latin typeface="Calibri"/>
              </a:rPr>
              <a:t>Aynı arabanın iki kere sıfır satılması</a:t>
            </a:r>
          </a:p>
        </p:txBody>
      </p:sp>
      <p:sp>
        <p:nvSpPr>
          <p:cNvPr id="20" name="Oval 19"/>
          <p:cNvSpPr/>
          <p:nvPr/>
        </p:nvSpPr>
        <p:spPr>
          <a:xfrm>
            <a:off x="7040880" y="3253740"/>
            <a:ext cx="118872" cy="118872"/>
          </a:xfrm>
          <a:prstGeom prst="ellipse">
            <a:avLst/>
          </a:prstGeom>
          <a:solidFill>
            <a:srgbClr val="BF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180588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444B57"/>
                </a:solidFill>
                <a:latin typeface="Calibri"/>
              </a:rPr>
              <a:t>Tarihlerin bir kısmı "14.03.2025", bir kısmı "2025-03-14"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160520"/>
            <a:ext cx="4297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</a:pPr>
            <a:r>
              <a:rPr sz="1250" b="1" i="0">
                <a:solidFill>
                  <a:srgbClr val="22252B"/>
                </a:solidFill>
                <a:latin typeface="Calibri"/>
              </a:rPr>
              <a:t>Her koyduğum hatayı ayrı bir listeye de yazdım — bir cevap anahtarı. Böylece sonunda "hataların kaçını yakaladım" diye ölçebiliyorum.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BF5B26"/>
                </a:solidFill>
                <a:latin typeface="Calibri"/>
              </a:rPr>
              <a:t>ADIM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Bronz: dosyaları arşive aldım — dokunmadan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</a:pPr>
            <a:r>
              <a:rPr sz="1300" b="0" i="0">
                <a:solidFill>
                  <a:srgbClr val="444B57"/>
                </a:solidFill>
                <a:latin typeface="Calibri"/>
              </a:rPr>
              <a:t>2.326 dosyayı olduğu gibi bulut depolama alanına kopyaladım. Sonra her dosya türü kendi tablosuna gitti: 17 dosya türü, 17 tablo.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5669280" cy="141732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BF5B26"/>
                </a:solidFill>
                <a:latin typeface="Calibri"/>
              </a:rPr>
              <a:t>BURADA VERİ DÜZENLENMEDİ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444B57"/>
                </a:solidFill>
                <a:latin typeface="Calibri"/>
              </a:rPr>
              <a:t>Tarih hâlâ "31.08.2026" yazılı metin. Tutar hâlâ "1989500,0". Bozuk şase numarası hâlâ bozuk. Eklenen tek şey her satıra vurulan bir kaşe: ne zaman geldi, hangi dosyadan, hangi çalıştırmada.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56692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8A8F98"/>
                </a:solidFill>
                <a:latin typeface="Calibri"/>
              </a:rPr>
              <a:t>Neden dokunmadım: Bronz, "kaynak o gün tam olarak ne göndermişti" sorusunun kalıcı cevabı. Sonraki adımda hata yaparsam buraya dönüp yeniden başlarım. Bronz'u düzeltmiş olsaydım geri dönecek yer kalmazdı.</a:t>
            </a:r>
          </a:p>
        </p:txBody>
      </p:sp>
      <p:pic>
        <p:nvPicPr>
          <p:cNvPr id="9" name="Picture 8" descr="fabric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82763"/>
            <a:ext cx="4892040" cy="22010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528523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8A8F98"/>
                </a:solidFill>
                <a:latin typeface="Calibri"/>
              </a:rPr>
              <a:t>Tek bir program, 17 kaynak için sırayla — hangi dosyayı nasıl okuyacağını bir ayar tablosundan öğreniyor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BF5B26"/>
                </a:solidFill>
                <a:latin typeface="Calibri"/>
              </a:rPr>
              <a:t>ADIM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Gümüş: burada temizledim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</a:pPr>
            <a:r>
              <a:rPr sz="1300" b="0" i="0">
                <a:solidFill>
                  <a:srgbClr val="444B57"/>
                </a:solidFill>
                <a:latin typeface="Calibri"/>
              </a:rPr>
              <a:t>Bronz'daki 17 tabloyu okuyup düzelterek yeni tablolara yazıyor. Bronz olduğu gibi kalıyor. Bir satış satırının başına gelenler: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BF5B26"/>
                </a:solidFill>
                <a:latin typeface="Calibri"/>
              </a:rPr>
              <a:t>BRONZ'DA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1945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BF5B26"/>
                </a:solidFill>
                <a:latin typeface="Calibri"/>
              </a:rPr>
              <a:t>GÜMÜŞ'TE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21945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BF5B26"/>
                </a:solidFill>
                <a:latin typeface="Calibri"/>
              </a:rPr>
              <a:t>NE YAPILDI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87168"/>
            <a:ext cx="10881360" cy="10972"/>
          </a:xfrm>
          <a:prstGeom prst="rect">
            <a:avLst/>
          </a:prstGeom>
          <a:solidFill>
            <a:srgbClr val="D8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2252B"/>
                </a:solidFill>
                <a:latin typeface="Calibri"/>
              </a:rPr>
              <a:t>"31.08.2026" — metin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542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2252B"/>
                </a:solidFill>
                <a:latin typeface="Calibri"/>
              </a:rPr>
              <a:t>gerçek bir tarih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54203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8F98"/>
                </a:solidFill>
                <a:latin typeface="Calibri"/>
              </a:rPr>
              <a:t>İki farklı yazım tek biçime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80944"/>
            <a:ext cx="11064240" cy="457200"/>
          </a:xfrm>
          <a:prstGeom prst="roundRect">
            <a:avLst>
              <a:gd name="adj" fmla="val 2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449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2252B"/>
                </a:solidFill>
                <a:latin typeface="Calibri"/>
              </a:rPr>
              <a:t>"1989500,0" — metin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449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2252B"/>
                </a:solidFill>
                <a:latin typeface="Calibri"/>
              </a:rPr>
              <a:t>1.989.500,00 — sayı, 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4495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8F98"/>
                </a:solidFill>
                <a:latin typeface="Calibri"/>
              </a:rPr>
              <a:t>Virgül noktaya; döviz o günün kuruyla TL'ye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478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2252B"/>
                </a:solidFill>
                <a:latin typeface="Calibri"/>
              </a:rPr>
              <a:t>Aynı sözleşme iki kere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5478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2252B"/>
                </a:solidFill>
                <a:latin typeface="Calibri"/>
              </a:rPr>
              <a:t>bir kere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54787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8F98"/>
                </a:solidFill>
                <a:latin typeface="Calibri"/>
              </a:rPr>
              <a:t>En güncel kayıt tutuldu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3"/>
            <a:ext cx="11064240" cy="457200"/>
          </a:xfrm>
          <a:prstGeom prst="roundRect">
            <a:avLst>
              <a:gd name="adj" fmla="val 2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5079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2252B"/>
                </a:solidFill>
                <a:latin typeface="Calibri"/>
              </a:rPr>
              <a:t>TC kimlik açık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05079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2252B"/>
                </a:solidFill>
                <a:latin typeface="Calibri"/>
              </a:rPr>
              <a:t>123*****901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050791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8F98"/>
                </a:solidFill>
                <a:latin typeface="Calibri"/>
              </a:rPr>
              <a:t>Kişisel bilgi gizlendi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53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2252B"/>
                </a:solidFill>
                <a:latin typeface="Calibri"/>
              </a:rPr>
              <a:t>Müşteri iki programda ayrı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553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2252B"/>
                </a:solidFill>
                <a:latin typeface="Calibri"/>
              </a:rPr>
              <a:t>tek müşteri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55371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8F98"/>
                </a:solidFill>
                <a:latin typeface="Calibri"/>
              </a:rPr>
              <a:t>Aynı kişi birleştirildi → sonraki slayt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92623"/>
            <a:ext cx="11064240" cy="457200"/>
          </a:xfrm>
          <a:prstGeom prst="roundRect">
            <a:avLst>
              <a:gd name="adj" fmla="val 2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5663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2252B"/>
                </a:solidFill>
                <a:latin typeface="Calibri"/>
              </a:rPr>
              <a:t>Bozuk şase numarası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05663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2252B"/>
                </a:solidFill>
                <a:latin typeface="Calibri"/>
              </a:rPr>
              <a:t>karantina tablosuna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056631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8F98"/>
                </a:solidFill>
                <a:latin typeface="Calibri"/>
              </a:rPr>
              <a:t>Kontrolden geçemeyen satır kenara, sebebiyle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BF5B26"/>
                </a:solidFill>
                <a:latin typeface="Calibri"/>
              </a:rPr>
              <a:t>ADIM 4 · DEVAM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Aynı kişiyi birleştirme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</a:pPr>
            <a:r>
              <a:rPr sz="1300" b="0" i="0">
                <a:solidFill>
                  <a:srgbClr val="444B57"/>
                </a:solidFill>
                <a:latin typeface="Calibri"/>
              </a:rPr>
              <a:t>Bayi programında 21 bin, müşteri programında 20 bin müşteri. Çoğu aynı insanlar ama aynı yazılmamış: "Y. DURAN" ile "Yesil Duran", biri TC'li biri TC'siz.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BF5B26"/>
                </a:solidFill>
                <a:latin typeface="Calibri"/>
              </a:rPr>
              <a:t>KAYITLARI PUANLAYAN BİR YÖNTEM KURDUM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22252B"/>
                </a:solidFill>
                <a:latin typeface="Cambria"/>
              </a:rPr>
              <a:t>+60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8A8F98"/>
                </a:solidFill>
                <a:latin typeface="Calibri"/>
              </a:rPr>
              <a:t>TC aynı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200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22252B"/>
                </a:solidFill>
                <a:latin typeface="Cambria"/>
              </a:rPr>
              <a:t>+30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657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8A8F98"/>
                </a:solidFill>
                <a:latin typeface="Calibri"/>
              </a:rPr>
              <a:t>telefon aynı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00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22252B"/>
                </a:solidFill>
                <a:latin typeface="Cambria"/>
              </a:rPr>
              <a:t>+25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657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8A8F98"/>
                </a:solidFill>
                <a:latin typeface="Calibri"/>
              </a:rPr>
              <a:t>isim aynı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00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BF5B26"/>
                </a:solidFill>
                <a:latin typeface="Cambria"/>
              </a:rPr>
              <a:t>−40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657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8A8F98"/>
                </a:solidFill>
                <a:latin typeface="Calibri"/>
              </a:rPr>
              <a:t>şahıs / şirket karışık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8A8F98"/>
                </a:solidFill>
                <a:latin typeface="Calibri"/>
              </a:rPr>
              <a:t>55'i geçen ve karşılıklı olarak birbirinin en iyi adayı olan çiftleri birleştirdim. Şüpheliyse tahmin etmek yerine birleştirmedim — yanlış birleştirme sonradan bulunamaz, eksik birleştirme mükerrer olarak görünür.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508760"/>
            <a:ext cx="4617720" cy="420624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7556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BF5B26"/>
                </a:solidFill>
                <a:latin typeface="Calibri"/>
              </a:rPr>
              <a:t>SONUÇ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1488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26 bin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6974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150" b="0" i="0">
                <a:solidFill>
                  <a:srgbClr val="8A8F98"/>
                </a:solidFill>
                <a:latin typeface="Calibri"/>
              </a:rPr>
              <a:t>gerçek müşteri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1488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BF5B26"/>
                </a:solidFill>
                <a:latin typeface="Cambria"/>
              </a:rPr>
              <a:t>14 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6974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150" b="0" i="0">
                <a:solidFill>
                  <a:srgbClr val="8A8F98"/>
                </a:solidFill>
                <a:latin typeface="Calibri"/>
              </a:rPr>
              <a:t>iki programda da olan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3832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BF5B26"/>
                </a:solidFill>
                <a:latin typeface="Calibri"/>
              </a:rPr>
              <a:t>KALİTE KONTROLÜ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703320"/>
            <a:ext cx="4114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00"/>
              </a:lnSpc>
            </a:pPr>
            <a:r>
              <a:rPr sz="1150" b="0" i="0">
                <a:solidFill>
                  <a:srgbClr val="444B57"/>
                </a:solidFill>
                <a:latin typeface="Calibri"/>
              </a:rPr>
              <a:t>25 kural: "şase boş olamaz", "kilometre geri gidemez", "fiş toplamı satırların toplamına eşit"... Kurallar programda değil, bir tabloda — yeni kural eklemek satır eklemek.</a:t>
            </a:r>
          </a:p>
          <a:p>
            <a:pPr>
              <a:lnSpc>
                <a:spcPts val="1600"/>
              </a:lnSpc>
            </a:pPr>
            <a:r>
              <a:rPr sz="1150" b="0" i="0">
                <a:solidFill>
                  <a:srgbClr val="444B57"/>
                </a:solidFill>
                <a:latin typeface="Calibri"/>
              </a:rPr>
              <a:t/>
            </a:r>
          </a:p>
          <a:p>
            <a:pPr>
              <a:lnSpc>
                <a:spcPts val="1600"/>
              </a:lnSpc>
            </a:pPr>
            <a:r>
              <a:rPr sz="1150" b="0" i="0">
                <a:solidFill>
                  <a:srgbClr val="444B57"/>
                </a:solidFill>
                <a:latin typeface="Calibri"/>
              </a:rPr>
              <a:t>25 kural çalıştı · 10'u sorun buldu · 2.299 ciddi sorun yakalandı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BF5B26"/>
                </a:solidFill>
                <a:latin typeface="Calibri"/>
              </a:rPr>
              <a:t>ADIM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Altın: rapor için yeniden düzenledim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</a:pPr>
            <a:r>
              <a:rPr sz="1300" b="0" i="0">
                <a:solidFill>
                  <a:srgbClr val="444B57"/>
                </a:solidFill>
                <a:latin typeface="Calibri"/>
              </a:rPr>
              <a:t>Gümüş temiz ama hâlâ program mantığında. Rapor için başka bir şekil lazım: iki tür tablo.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423160"/>
            <a:ext cx="182880" cy="18288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23591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2252B"/>
                </a:solidFill>
                <a:latin typeface="Cambria"/>
              </a:rPr>
              <a:t>"Ne oldu" tabloları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00"/>
              </a:lnSpc>
            </a:pPr>
            <a:r>
              <a:rPr sz="1150" b="0" i="0">
                <a:solidFill>
                  <a:srgbClr val="444B57"/>
                </a:solidFill>
                <a:latin typeface="Calibri"/>
              </a:rPr>
              <a:t>Olaylar: satışlar, servis işleri, parça siparişleri, günlük stok. Her satır bir olay, içinde sayılar var — tutar, saat, adet.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945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28232" y="2423160"/>
            <a:ext cx="182880" cy="182880"/>
          </a:xfrm>
          <a:prstGeom prst="ellipse">
            <a:avLst/>
          </a:prstGeom>
          <a:solidFill>
            <a:srgbClr val="3F6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3591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2252B"/>
                </a:solidFill>
                <a:latin typeface="Cambria"/>
              </a:rPr>
              <a:t>"Kim / ne / nerede" tabloları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74320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00"/>
              </a:lnSpc>
            </a:pPr>
            <a:r>
              <a:rPr sz="1150" b="0" i="0">
                <a:solidFill>
                  <a:srgbClr val="444B57"/>
                </a:solidFill>
                <a:latin typeface="Calibri"/>
              </a:rPr>
              <a:t>Bağlam: bayiler, müşteriler, arabalar, personel, modeller, takvim. Rapordaki her filtre buradan gelir.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69080"/>
            <a:ext cx="10881360" cy="1783080"/>
          </a:xfrm>
          <a:prstGeom prst="roundRect">
            <a:avLst>
              <a:gd name="adj" fmla="val 5000"/>
            </a:avLst>
          </a:prstGeom>
          <a:solidFill>
            <a:srgbClr val="EA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BF5B26"/>
                </a:solidFill>
                <a:latin typeface="Calibri"/>
              </a:rPr>
              <a:t>GEÇMİŞ KORUNUYOR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444B57"/>
                </a:solidFill>
                <a:latin typeface="Calibri"/>
              </a:rPr>
              <a:t>Olay tabloları bağlam tablolarına bir iç numara ile bağlanıyor — bayi kodu "IST01" değil, "57 numaralı satır". Bir bayi ad değiştirdiğinde bayiler tablosunda iki satır oluyor: "2024 Haziran'a kadar Kartal Otomotiv", "sonrası Kartal Oto A.Ş." Her satış, yapıldığı tarihteki hâline bağlı kalıyor. Eski rapor eskide kalıyor.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8A8F98"/>
                </a:solidFill>
                <a:latin typeface="Calibri"/>
              </a:rPr>
              <a:t>Bu katman SQL ile, veri ambarı tarafında yazıldı — "tabloları birleştir, numara ata, geçmişi tut" o aracın doğal işi. Gümüş'ü oradan okuyabiliyor, kopyalama yok.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BF5B26"/>
                </a:solidFill>
                <a:latin typeface="Calibri"/>
              </a:rPr>
              <a:t>ADIM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Rapor</a:t>
            </a:r>
          </a:p>
        </p:txBody>
      </p:sp>
      <p:pic>
        <p:nvPicPr>
          <p:cNvPr id="4" name="Picture 3" descr="powerbi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91" y="1508760"/>
            <a:ext cx="7608777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641080" y="1508760"/>
            <a:ext cx="2926080" cy="420624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7968" y="17373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BF5B26"/>
                </a:solidFill>
                <a:latin typeface="Calibri"/>
              </a:rPr>
              <a:t>TEK SAYFA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2148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22252B"/>
                </a:solidFill>
                <a:latin typeface="Cambria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569464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400"/>
              </a:lnSpc>
            </a:pPr>
            <a:r>
              <a:rPr sz="1100" b="0" i="0">
                <a:solidFill>
                  <a:srgbClr val="8A8F98"/>
                </a:solidFill>
                <a:latin typeface="Calibri"/>
              </a:rPr>
              <a:t>tablo — hepsi değil,</a:t>
            </a:r>
          </a:p>
          <a:p>
            <a:pPr>
              <a:lnSpc>
                <a:spcPts val="1400"/>
              </a:lnSpc>
            </a:pPr>
            <a:r>
              <a:rPr sz="1100" b="0" i="0">
                <a:solidFill>
                  <a:srgbClr val="8A8F98"/>
                </a:solidFill>
                <a:latin typeface="Calibri"/>
              </a:rPr>
              <a:t>yöneticinin göreceği kadar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30632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22252B"/>
                </a:solidFill>
                <a:latin typeface="Cambria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3483864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400"/>
              </a:lnSpc>
            </a:pPr>
            <a:r>
              <a:rPr sz="1100" b="0" i="0">
                <a:solidFill>
                  <a:srgbClr val="8A8F98"/>
                </a:solidFill>
                <a:latin typeface="Calibri"/>
              </a:rPr>
              <a:t>hesaplama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3977639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22252B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4398264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400"/>
              </a:lnSpc>
            </a:pPr>
            <a:r>
              <a:rPr sz="1100" b="0" i="0">
                <a:solidFill>
                  <a:srgbClr val="8A8F98"/>
                </a:solidFill>
                <a:latin typeface="Calibri"/>
              </a:rPr>
              <a:t>sayfa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484632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400"/>
              </a:lnSpc>
            </a:pPr>
            <a:r>
              <a:rPr sz="1050" b="0" i="0">
                <a:solidFill>
                  <a:srgbClr val="444B57"/>
                </a:solidFill>
                <a:latin typeface="Calibri"/>
              </a:rPr>
              <a:t>En değerli grafik: bayi bazında servis süresi, "çalışılan saat" ve "parça bekleme" olarak ayrı.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8A8F98"/>
                </a:solidFill>
                <a:latin typeface="Calibri"/>
              </a:rPr>
              <a:t>"Servisimiz yavaş" ile "parça tedarikimiz yavaş" farklı departmanların sorunu — rapor ikisini ayırıyor.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BF5B26"/>
                </a:solidFill>
                <a:latin typeface="Calibri"/>
              </a:rPr>
              <a:t>ADIM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Gerçekten çalıştırdım — ve kırıldı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200"/>
              </a:lnSpc>
            </a:pPr>
            <a:r>
              <a:rPr sz="1400" b="0" i="0">
                <a:solidFill>
                  <a:srgbClr val="C9CCD2"/>
                </a:solidFill>
                <a:latin typeface="Calibri"/>
              </a:rPr>
              <a:t>Hepsi önce bilgisayarımda yazıldı. Sonra buluttan gerçek bir kapasite kiralayıp baştan sona çalıştırdım. 18 hata çıktı — hiçbiri kodu okuyarak görünmüyordu.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6400800" cy="2468880"/>
          </a:xfrm>
          <a:prstGeom prst="roundRect">
            <a:avLst>
              <a:gd name="adj" fmla="val 5000"/>
            </a:avLst>
          </a:prstGeom>
          <a:solidFill>
            <a:srgbClr val="2E3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0156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BF5B26"/>
                </a:solidFill>
                <a:latin typeface="Calibri"/>
              </a:rPr>
              <a:t>BİR 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30752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</a:pPr>
            <a:r>
              <a:rPr sz="1250" b="0" i="0">
                <a:solidFill>
                  <a:srgbClr val="9AA0A8"/>
                </a:solidFill>
                <a:latin typeface="Calibri"/>
              </a:rPr>
              <a:t>Servis tablosu sessizce iki katına çıkmıştı. Hata mesajı yok — sadece 176 bin olması gereken yerde 326 bin satır. Sebep: bir "bilinmiyor" satırı, gerçek bir satırla aynı değerlere sahipti.</a:t>
            </a:r>
          </a:p>
          <a:p>
            <a:pPr>
              <a:lnSpc>
                <a:spcPts val="1800"/>
              </a:lnSpc>
            </a:pPr>
            <a:r>
              <a:rPr sz="1250" b="0" i="0">
                <a:solidFill>
                  <a:srgbClr val="9AA0A8"/>
                </a:solidFill>
                <a:latin typeface="Calibri"/>
              </a:rPr>
              <a:t/>
            </a:r>
          </a:p>
          <a:p>
            <a:pPr>
              <a:lnSpc>
                <a:spcPts val="1800"/>
              </a:lnSpc>
            </a:pPr>
            <a:r>
              <a:rPr sz="1250" b="0" i="0">
                <a:solidFill>
                  <a:srgbClr val="9AA0A8"/>
                </a:solidFill>
                <a:latin typeface="Calibri"/>
              </a:rPr>
              <a:t>Sayıları kontrol ettiğim için yakaladım. Hepsini düzelttim ve nasıl bulduğumu yazdım.</a:t>
            </a:r>
          </a:p>
        </p:txBody>
      </p:sp>
      <p:pic>
        <p:nvPicPr>
          <p:cNvPr id="8" name="Picture 7" descr="fabric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727" y="1783080"/>
            <a:ext cx="2415785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5148072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8A8F98"/>
                </a:solidFill>
                <a:latin typeface="Calibri"/>
              </a:rPr>
              <a:t>Fabric çalışma alanı — gerçek kapasite, gerçek çalıştırma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C9CCD2"/>
                </a:solidFill>
                <a:latin typeface="Cambria"/>
              </a:rPr>
              <a:t>"Çalışıyor" demek ile çalıştırıp görmek arasındaki fark: bu 18 hata.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BF5B26"/>
                </a:solidFill>
                <a:latin typeface="Calibri"/>
              </a:rPr>
              <a:t>ÖZET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Bütün akış, tek bakışta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920240" cy="96012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920240"/>
            <a:ext cx="146304" cy="146304"/>
          </a:xfrm>
          <a:prstGeom prst="ellipse">
            <a:avLst/>
          </a:prstGeom>
          <a:solidFill>
            <a:srgbClr val="444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6537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2252B"/>
                </a:solidFill>
                <a:latin typeface="Cambria"/>
              </a:rPr>
              <a:t>Dosyalar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8A8F98"/>
                </a:solidFill>
                <a:latin typeface="Calibri"/>
              </a:rPr>
              <a:t>olduğu gibi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24328" y="2121408"/>
            <a:ext cx="201168" cy="164592"/>
          </a:xfrm>
          <a:prstGeom prst="rightArrow">
            <a:avLst/>
          </a:prstGeom>
          <a:solidFill>
            <a:srgbClr val="C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9504" y="1737360"/>
            <a:ext cx="1920240" cy="96012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72384" y="1920240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0984" y="186537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2252B"/>
                </a:solidFill>
                <a:latin typeface="Cambria"/>
              </a:rPr>
              <a:t>Bronz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240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8A8F98"/>
                </a:solidFill>
                <a:latin typeface="Calibri"/>
              </a:rPr>
              <a:t>arşiv, dokunulmaz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73752" y="2121408"/>
            <a:ext cx="201168" cy="164592"/>
          </a:xfrm>
          <a:prstGeom prst="rightArrow">
            <a:avLst/>
          </a:prstGeom>
          <a:solidFill>
            <a:srgbClr val="C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38928" y="1737360"/>
            <a:ext cx="1920240" cy="96012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21808" y="1920240"/>
            <a:ext cx="146304" cy="146304"/>
          </a:xfrm>
          <a:prstGeom prst="ellipse">
            <a:avLst/>
          </a:prstGeom>
          <a:solidFill>
            <a:srgbClr val="7C8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0408" y="186537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2252B"/>
                </a:solidFill>
                <a:latin typeface="Cambria"/>
              </a:rPr>
              <a:t>Gümüş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240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8A8F98"/>
                </a:solidFill>
                <a:latin typeface="Calibri"/>
              </a:rPr>
              <a:t>temiz, tek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23176" y="2121408"/>
            <a:ext cx="201168" cy="164592"/>
          </a:xfrm>
          <a:prstGeom prst="rightArrow">
            <a:avLst/>
          </a:prstGeom>
          <a:solidFill>
            <a:srgbClr val="C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88352" y="1737360"/>
            <a:ext cx="1920240" cy="96012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71231" y="1920240"/>
            <a:ext cx="146304" cy="146304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9831" y="186537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2252B"/>
                </a:solidFill>
                <a:latin typeface="Cambria"/>
              </a:rPr>
              <a:t>Altın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2240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8A8F98"/>
                </a:solidFill>
                <a:latin typeface="Calibri"/>
              </a:rPr>
              <a:t>rapor şekli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72600" y="2121408"/>
            <a:ext cx="201168" cy="164592"/>
          </a:xfrm>
          <a:prstGeom prst="rightArrow">
            <a:avLst/>
          </a:prstGeom>
          <a:solidFill>
            <a:srgbClr val="C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37776" y="1737360"/>
            <a:ext cx="1920240" cy="960120"/>
          </a:xfrm>
          <a:prstGeom prst="roundRect">
            <a:avLst>
              <a:gd name="adj" fmla="val 5000"/>
            </a:avLst>
          </a:prstGeom>
          <a:solidFill>
            <a:srgbClr val="F3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0655" y="1920240"/>
            <a:ext cx="146304" cy="146304"/>
          </a:xfrm>
          <a:prstGeom prst="ellipse">
            <a:avLst/>
          </a:prstGeom>
          <a:solidFill>
            <a:srgbClr val="3F6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9255" y="186537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2252B"/>
                </a:solidFill>
                <a:latin typeface="Cambria"/>
              </a:rPr>
              <a:t>Rapor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0655" y="2240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8A8F98"/>
                </a:solidFill>
                <a:latin typeface="Calibri"/>
              </a:rPr>
              <a:t>Power 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017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2252B"/>
                </a:solidFill>
                <a:latin typeface="Cambria"/>
              </a:rPr>
              <a:t>Her aşama bir öncekini okur, kendi tablolarını yazar, öncekine dokunmaz.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5204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</a:pPr>
            <a:r>
              <a:rPr sz="1250" b="0" i="0">
                <a:solidFill>
                  <a:srgbClr val="444B57"/>
                </a:solidFill>
                <a:latin typeface="Calibri"/>
              </a:rPr>
              <a:t>Bu yüzden herhangi bir aşamada hata olursa bir öncekinden yeniden başlayabiliyorum. Gümüş'ü üç kez sıfırdan yeniden ürettim — Bronz'a hiç dokunmadan.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150" b="0" i="0">
                <a:solidFill>
                  <a:srgbClr val="8A8F98"/>
                </a:solidFill>
                <a:latin typeface="Calibri"/>
              </a:rPr>
              <a:t>ham tablo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2928" y="45720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26 bin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2928" y="51206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150" b="0" i="0">
                <a:solidFill>
                  <a:srgbClr val="8A8F98"/>
                </a:solidFill>
                <a:latin typeface="Calibri"/>
              </a:rPr>
              <a:t>birleşik müşteri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65776" y="45720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65776" y="51206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150" b="0" i="0">
                <a:solidFill>
                  <a:srgbClr val="8A8F98"/>
                </a:solidFill>
                <a:latin typeface="Calibri"/>
              </a:rPr>
              <a:t>kalite kuralı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8624" y="45720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2252B"/>
                </a:solidFill>
                <a:latin typeface="Cambria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8624" y="51206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150" b="0" i="0">
                <a:solidFill>
                  <a:srgbClr val="8A8F98"/>
                </a:solidFill>
                <a:latin typeface="Calibri"/>
              </a:rPr>
              <a:t>rapor tablosu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45720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BF5B26"/>
                </a:solidFill>
                <a:latin typeface="Cambria"/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91472" y="51206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150" b="0" i="0">
                <a:solidFill>
                  <a:srgbClr val="8A8F98"/>
                </a:solidFill>
                <a:latin typeface="Calibri"/>
              </a:rPr>
              <a:t>bulunan hata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Geriye dönüp bakınca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300"/>
              </a:lnSpc>
            </a:pPr>
            <a:r>
              <a:rPr sz="1500" b="0" i="0">
                <a:solidFill>
                  <a:srgbClr val="C9CCD2"/>
                </a:solidFill>
                <a:latin typeface="Calibri"/>
              </a:rPr>
              <a:t>Bu projeden aldığım en önemli şey: hiçbir hata kodu okuyarak görünmüyordu. Hepsi çalıştırınca, sayıları kontrol edince, "bu tutmuyor" deyince çıktı.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BF5B26"/>
                </a:solidFill>
                <a:latin typeface="Calibri"/>
              </a:rPr>
              <a:t>BUGÜN YAPSAM İKİ ŞEYİ FARKLI YAPARDIM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4187952"/>
            <a:ext cx="118872" cy="118872"/>
          </a:xfrm>
          <a:prstGeom prst="ellipse">
            <a:avLst/>
          </a:prstGeom>
          <a:solidFill>
            <a:srgbClr val="BF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</a:pPr>
            <a:r>
              <a:rPr sz="1300" b="0" i="0">
                <a:solidFill>
                  <a:srgbClr val="9AA0A8"/>
                </a:solidFill>
                <a:latin typeface="Calibri"/>
              </a:rPr>
              <a:t>Müşteri tablosunun geçmişini de tutardım — şu an bir müşterinin 2023'teki şehri sorulunca 2026 şehri görünüyor.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4798568"/>
            <a:ext cx="118872" cy="118872"/>
          </a:xfrm>
          <a:prstGeom prst="ellipse">
            <a:avLst/>
          </a:prstGeom>
          <a:solidFill>
            <a:srgbClr val="BF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25416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</a:pPr>
            <a:r>
              <a:rPr sz="1300" b="0" i="0">
                <a:solidFill>
                  <a:srgbClr val="9AA0A8"/>
                </a:solidFill>
                <a:latin typeface="Calibri"/>
              </a:rPr>
              <a:t>Kişisel bilgiyi ilk adımda gizlerdim — şu an Bronz'da açık duruyor, gerçek veride kabul edilemez.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457200" cy="41148"/>
          </a:xfrm>
          <a:prstGeom prst="rect">
            <a:avLst/>
          </a:prstGeom>
          <a:solidFill>
            <a:srgbClr val="BF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BF5B26"/>
                </a:solidFill>
                <a:latin typeface="Calibri"/>
              </a:rPr>
              <a:t>github.com/BurakOnce/Mihenk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