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 kalitesi projede sonradan eklenen bir kontrol değil, mimarinin kendisi.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Kapanış: ölçülemeyen bir kalite iddiası, iddia olarak kalır.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252B"/>
        </a:solidFill>
        <a:effectLst/>
      </p:bgPr>
    </p:bg>
    <p:spTree>
      <p:nvGrpSpPr>
        <p:cNvPr id="1" name=""/>
        <p:cNvGrpSpPr/>
        <p:nvPr/>
      </p:nvGrpSpPr>
      <p:grpSpPr/>
      <p:sp>
        <p:nvSpPr>
          <p:cNvPr id="2" name="TextBox 1"/>
          <p:cNvSpPr txBox="1"/>
          <p:nvPr/>
        </p:nvSpPr>
        <p:spPr>
          <a:xfrm>
            <a:off x="640080" y="2057400"/>
            <a:ext cx="8229600" cy="1005840"/>
          </a:xfrm>
          <a:prstGeom prst="rect">
            <a:avLst/>
          </a:prstGeom>
          <a:noFill/>
        </p:spPr>
        <p:txBody>
          <a:bodyPr wrap="square" lIns="0" rIns="0" tIns="0" bIns="0">
            <a:spAutoFit/>
          </a:bodyPr>
          <a:lstStyle/>
          <a:p>
            <a:r>
              <a:rPr sz="5800" b="1" i="0">
                <a:solidFill>
                  <a:srgbClr val="FFFFFF"/>
                </a:solidFill>
                <a:latin typeface="Cambria"/>
              </a:rPr>
              <a:t>Mihenk</a:t>
            </a:r>
          </a:p>
        </p:txBody>
      </p:sp>
      <p:sp>
        <p:nvSpPr>
          <p:cNvPr id="3" name="TextBox 2"/>
          <p:cNvSpPr txBox="1"/>
          <p:nvPr/>
        </p:nvSpPr>
        <p:spPr>
          <a:xfrm>
            <a:off x="640080" y="2999232"/>
            <a:ext cx="8229600" cy="731520"/>
          </a:xfrm>
          <a:prstGeom prst="rect">
            <a:avLst/>
          </a:prstGeom>
          <a:noFill/>
        </p:spPr>
        <p:txBody>
          <a:bodyPr wrap="square" lIns="0" rIns="0" tIns="0" bIns="0">
            <a:spAutoFit/>
          </a:bodyPr>
          <a:lstStyle/>
          <a:p>
            <a:r>
              <a:rPr sz="3800" b="0" i="0">
                <a:solidFill>
                  <a:srgbClr val="BF5B26"/>
                </a:solidFill>
                <a:latin typeface="Cambria"/>
              </a:rPr>
              <a:t>Veri Platformu</a:t>
            </a:r>
          </a:p>
        </p:txBody>
      </p:sp>
      <p:sp>
        <p:nvSpPr>
          <p:cNvPr id="4" name="TextBox 3"/>
          <p:cNvSpPr txBox="1"/>
          <p:nvPr/>
        </p:nvSpPr>
        <p:spPr>
          <a:xfrm>
            <a:off x="640080" y="3950208"/>
            <a:ext cx="9144000" cy="457200"/>
          </a:xfrm>
          <a:prstGeom prst="rect">
            <a:avLst/>
          </a:prstGeom>
          <a:noFill/>
        </p:spPr>
        <p:txBody>
          <a:bodyPr wrap="square" lIns="0" rIns="0" tIns="0" bIns="0">
            <a:spAutoFit/>
          </a:bodyPr>
          <a:lstStyle/>
          <a:p>
            <a:r>
              <a:rPr sz="1500" b="0" i="0">
                <a:solidFill>
                  <a:srgbClr val="C9CCD2"/>
                </a:solidFill>
                <a:latin typeface="Calibri"/>
              </a:rPr>
              <a:t>Microsoft Fabric üzerinde, bir otomotiv distribütörü için uçtan uca madalyon mimarisi</a:t>
            </a:r>
          </a:p>
        </p:txBody>
      </p:sp>
      <p:sp>
        <p:nvSpPr>
          <p:cNvPr id="5" name="Rectangle 4"/>
          <p:cNvSpPr/>
          <p:nvPr/>
        </p:nvSpPr>
        <p:spPr>
          <a:xfrm>
            <a:off x="640080" y="4754880"/>
            <a:ext cx="457200" cy="41148"/>
          </a:xfrm>
          <a:prstGeom prst="rect">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983480"/>
            <a:ext cx="5486400" cy="320040"/>
          </a:xfrm>
          <a:prstGeom prst="rect">
            <a:avLst/>
          </a:prstGeom>
          <a:noFill/>
        </p:spPr>
        <p:txBody>
          <a:bodyPr wrap="square" lIns="0" rIns="0" tIns="0" bIns="0">
            <a:spAutoFit/>
          </a:bodyPr>
          <a:lstStyle/>
          <a:p>
            <a:r>
              <a:rPr sz="1300" b="0" i="0">
                <a:solidFill>
                  <a:srgbClr val="8A8F98"/>
                </a:solidFill>
                <a:latin typeface="Calibri"/>
              </a:rPr>
              <a:t>Burak Önce   ·   Eylül 2026</a:t>
            </a:r>
          </a:p>
        </p:txBody>
      </p:sp>
      <p:sp>
        <p:nvSpPr>
          <p:cNvPr id="7" name="TextBox 6"/>
          <p:cNvSpPr txBox="1"/>
          <p:nvPr/>
        </p:nvSpPr>
        <p:spPr>
          <a:xfrm>
            <a:off x="640080" y="5349240"/>
            <a:ext cx="7315200" cy="320040"/>
          </a:xfrm>
          <a:prstGeom prst="rect">
            <a:avLst/>
          </a:prstGeom>
          <a:noFill/>
        </p:spPr>
        <p:txBody>
          <a:bodyPr wrap="square" lIns="0" rIns="0" tIns="0" bIns="0">
            <a:spAutoFit/>
          </a:bodyPr>
          <a:lstStyle/>
          <a:p>
            <a:r>
              <a:rPr sz="1250" b="0" i="0">
                <a:solidFill>
                  <a:srgbClr val="BF5B26"/>
                </a:solidFill>
                <a:latin typeface="Calibri"/>
              </a:rPr>
              <a:t>github.com/BurakOnce/Mihenk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İŞ BAĞLAMI</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Problem</a:t>
            </a:r>
          </a:p>
        </p:txBody>
      </p:sp>
      <p:sp>
        <p:nvSpPr>
          <p:cNvPr id="4" name="TextBox 3"/>
          <p:cNvSpPr txBox="1"/>
          <p:nvPr/>
        </p:nvSpPr>
        <p:spPr>
          <a:xfrm>
            <a:off x="640080" y="1572768"/>
            <a:ext cx="6492240" cy="731520"/>
          </a:xfrm>
          <a:prstGeom prst="rect">
            <a:avLst/>
          </a:prstGeom>
          <a:noFill/>
        </p:spPr>
        <p:txBody>
          <a:bodyPr wrap="square" lIns="0" rIns="0" tIns="0" bIns="0">
            <a:spAutoFit/>
          </a:bodyPr>
          <a:lstStyle/>
          <a:p>
            <a:pPr>
              <a:lnSpc>
                <a:spcPts val="2400"/>
              </a:lnSpc>
            </a:pPr>
            <a:r>
              <a:rPr sz="1500" b="0" i="0">
                <a:solidFill>
                  <a:srgbClr val="444B57"/>
                </a:solidFill>
                <a:latin typeface="Calibri"/>
              </a:rPr>
              <a:t>40 bayilik bir ağ üzerinden araç satan, yetkili servis işleten ve tedarikçilerden yedek parça alan bir distribütör.</a:t>
            </a:r>
          </a:p>
        </p:txBody>
      </p:sp>
      <p:sp>
        <p:nvSpPr>
          <p:cNvPr id="5" name="Oval 4"/>
          <p:cNvSpPr/>
          <p:nvPr/>
        </p:nvSpPr>
        <p:spPr>
          <a:xfrm>
            <a:off x="640080" y="2578608"/>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514600"/>
            <a:ext cx="2743200" cy="292608"/>
          </a:xfrm>
          <a:prstGeom prst="rect">
            <a:avLst/>
          </a:prstGeom>
          <a:noFill/>
        </p:spPr>
        <p:txBody>
          <a:bodyPr wrap="square" lIns="0" rIns="0" tIns="0" bIns="0">
            <a:spAutoFit/>
          </a:bodyPr>
          <a:lstStyle/>
          <a:p>
            <a:r>
              <a:rPr sz="1400" b="1" i="0">
                <a:solidFill>
                  <a:srgbClr val="22252B"/>
                </a:solidFill>
                <a:latin typeface="Calibri"/>
              </a:rPr>
              <a:t>Satış</a:t>
            </a:r>
          </a:p>
        </p:txBody>
      </p:sp>
      <p:sp>
        <p:nvSpPr>
          <p:cNvPr id="7" name="TextBox 6"/>
          <p:cNvSpPr txBox="1"/>
          <p:nvPr/>
        </p:nvSpPr>
        <p:spPr>
          <a:xfrm>
            <a:off x="1005840" y="2807208"/>
            <a:ext cx="6035040" cy="320040"/>
          </a:xfrm>
          <a:prstGeom prst="rect">
            <a:avLst/>
          </a:prstGeom>
          <a:noFill/>
        </p:spPr>
        <p:txBody>
          <a:bodyPr wrap="square" lIns="0" rIns="0" tIns="0" bIns="0">
            <a:spAutoFit/>
          </a:bodyPr>
          <a:lstStyle/>
          <a:p>
            <a:r>
              <a:rPr sz="1250" b="0" i="0">
                <a:solidFill>
                  <a:srgbClr val="8A8F98"/>
                </a:solidFill>
                <a:latin typeface="Calibri"/>
              </a:rPr>
              <a:t>Sıfır ve ikinci el araç, takas, bayi performansı</a:t>
            </a:r>
          </a:p>
        </p:txBody>
      </p:sp>
      <p:sp>
        <p:nvSpPr>
          <p:cNvPr id="8" name="Oval 7"/>
          <p:cNvSpPr/>
          <p:nvPr/>
        </p:nvSpPr>
        <p:spPr>
          <a:xfrm>
            <a:off x="640080" y="3328415"/>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264408"/>
            <a:ext cx="2743200" cy="292608"/>
          </a:xfrm>
          <a:prstGeom prst="rect">
            <a:avLst/>
          </a:prstGeom>
          <a:noFill/>
        </p:spPr>
        <p:txBody>
          <a:bodyPr wrap="square" lIns="0" rIns="0" tIns="0" bIns="0">
            <a:spAutoFit/>
          </a:bodyPr>
          <a:lstStyle/>
          <a:p>
            <a:r>
              <a:rPr sz="1400" b="1" i="0">
                <a:solidFill>
                  <a:srgbClr val="22252B"/>
                </a:solidFill>
                <a:latin typeface="Calibri"/>
              </a:rPr>
              <a:t>Satış sonrası</a:t>
            </a:r>
          </a:p>
        </p:txBody>
      </p:sp>
      <p:sp>
        <p:nvSpPr>
          <p:cNvPr id="10" name="TextBox 9"/>
          <p:cNvSpPr txBox="1"/>
          <p:nvPr/>
        </p:nvSpPr>
        <p:spPr>
          <a:xfrm>
            <a:off x="1005840" y="3557015"/>
            <a:ext cx="6035040" cy="320040"/>
          </a:xfrm>
          <a:prstGeom prst="rect">
            <a:avLst/>
          </a:prstGeom>
          <a:noFill/>
        </p:spPr>
        <p:txBody>
          <a:bodyPr wrap="square" lIns="0" rIns="0" tIns="0" bIns="0">
            <a:spAutoFit/>
          </a:bodyPr>
          <a:lstStyle/>
          <a:p>
            <a:r>
              <a:rPr sz="1250" b="0" i="0">
                <a:solidFill>
                  <a:srgbClr val="8A8F98"/>
                </a:solidFill>
                <a:latin typeface="Calibri"/>
              </a:rPr>
              <a:t>Periyodik bakım, onarım, garanti, kaporta-boya, geri çağırma</a:t>
            </a:r>
          </a:p>
        </p:txBody>
      </p:sp>
      <p:sp>
        <p:nvSpPr>
          <p:cNvPr id="11" name="Oval 10"/>
          <p:cNvSpPr/>
          <p:nvPr/>
        </p:nvSpPr>
        <p:spPr>
          <a:xfrm>
            <a:off x="640080" y="4078224"/>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14215"/>
            <a:ext cx="2743200" cy="292608"/>
          </a:xfrm>
          <a:prstGeom prst="rect">
            <a:avLst/>
          </a:prstGeom>
          <a:noFill/>
        </p:spPr>
        <p:txBody>
          <a:bodyPr wrap="square" lIns="0" rIns="0" tIns="0" bIns="0">
            <a:spAutoFit/>
          </a:bodyPr>
          <a:lstStyle/>
          <a:p>
            <a:r>
              <a:rPr sz="1400" b="1" i="0">
                <a:solidFill>
                  <a:srgbClr val="22252B"/>
                </a:solidFill>
                <a:latin typeface="Calibri"/>
              </a:rPr>
              <a:t>Tedarik</a:t>
            </a:r>
          </a:p>
        </p:txBody>
      </p:sp>
      <p:sp>
        <p:nvSpPr>
          <p:cNvPr id="13" name="TextBox 12"/>
          <p:cNvSpPr txBox="1"/>
          <p:nvPr/>
        </p:nvSpPr>
        <p:spPr>
          <a:xfrm>
            <a:off x="1005840" y="4306824"/>
            <a:ext cx="6035040" cy="320040"/>
          </a:xfrm>
          <a:prstGeom prst="rect">
            <a:avLst/>
          </a:prstGeom>
          <a:noFill/>
        </p:spPr>
        <p:txBody>
          <a:bodyPr wrap="square" lIns="0" rIns="0" tIns="0" bIns="0">
            <a:spAutoFit/>
          </a:bodyPr>
          <a:lstStyle/>
          <a:p>
            <a:r>
              <a:rPr sz="1250" b="0" i="0">
                <a:solidFill>
                  <a:srgbClr val="8A8F98"/>
                </a:solidFill>
                <a:latin typeface="Calibri"/>
              </a:rPr>
              <a:t>Yedek parça siparişi, tedarikçi performansı, stok</a:t>
            </a:r>
          </a:p>
        </p:txBody>
      </p:sp>
      <p:sp>
        <p:nvSpPr>
          <p:cNvPr id="14" name="Rounded Rectangle 13"/>
          <p:cNvSpPr/>
          <p:nvPr/>
        </p:nvSpPr>
        <p:spPr>
          <a:xfrm>
            <a:off x="7589520" y="1508760"/>
            <a:ext cx="3977639" cy="33832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2127" y="1783080"/>
            <a:ext cx="3383280" cy="274320"/>
          </a:xfrm>
          <a:prstGeom prst="rect">
            <a:avLst/>
          </a:prstGeom>
          <a:noFill/>
        </p:spPr>
        <p:txBody>
          <a:bodyPr wrap="square" lIns="0" rIns="0" tIns="0" bIns="0">
            <a:spAutoFit/>
          </a:bodyPr>
          <a:lstStyle/>
          <a:p>
            <a:r>
              <a:rPr sz="1050" b="1" i="0">
                <a:solidFill>
                  <a:srgbClr val="BF5B26"/>
                </a:solidFill>
                <a:latin typeface="Calibri"/>
              </a:rPr>
              <a:t>CEVAPLANAMAYAN SORU</a:t>
            </a:r>
          </a:p>
        </p:txBody>
      </p:sp>
      <p:sp>
        <p:nvSpPr>
          <p:cNvPr id="16" name="TextBox 15"/>
          <p:cNvSpPr txBox="1"/>
          <p:nvPr/>
        </p:nvSpPr>
        <p:spPr>
          <a:xfrm>
            <a:off x="7882127" y="2121408"/>
            <a:ext cx="3383280" cy="457200"/>
          </a:xfrm>
          <a:prstGeom prst="rect">
            <a:avLst/>
          </a:prstGeom>
          <a:noFill/>
        </p:spPr>
        <p:txBody>
          <a:bodyPr wrap="square" lIns="0" rIns="0" tIns="0" bIns="0">
            <a:spAutoFit/>
          </a:bodyPr>
          <a:lstStyle/>
          <a:p>
            <a:r>
              <a:rPr sz="2100" b="1" i="0">
                <a:solidFill>
                  <a:srgbClr val="22252B"/>
                </a:solidFill>
                <a:latin typeface="Cambria"/>
              </a:rPr>
              <a:t>“Kaç müşterimiz var?”</a:t>
            </a:r>
          </a:p>
        </p:txBody>
      </p:sp>
      <p:sp>
        <p:nvSpPr>
          <p:cNvPr id="17" name="TextBox 16"/>
          <p:cNvSpPr txBox="1"/>
          <p:nvPr/>
        </p:nvSpPr>
        <p:spPr>
          <a:xfrm>
            <a:off x="7882127" y="2697480"/>
            <a:ext cx="3383280" cy="2011680"/>
          </a:xfrm>
          <a:prstGeom prst="rect">
            <a:avLst/>
          </a:prstGeom>
          <a:noFill/>
        </p:spPr>
        <p:txBody>
          <a:bodyPr wrap="square" lIns="0" rIns="0" tIns="0" bIns="0">
            <a:spAutoFit/>
          </a:bodyPr>
          <a:lstStyle/>
          <a:p>
            <a:pPr>
              <a:lnSpc>
                <a:spcPts val="1900"/>
              </a:lnSpc>
            </a:pPr>
            <a:r>
              <a:rPr sz="1250" b="0" i="0">
                <a:solidFill>
                  <a:srgbClr val="444B57"/>
                </a:solidFill>
                <a:latin typeface="Calibri"/>
              </a:rPr>
              <a:t>Aynı kişi DMS'te ve CRM'de farklı yazılmış. İsim kısaltılmış, telefon formatı değişmiş, TCKN çoğu CRM kaydında hiç yok.</a:t>
            </a:r>
          </a:p>
          <a:p>
            <a:pPr>
              <a:lnSpc>
                <a:spcPts val="1900"/>
              </a:lnSpc>
            </a:pPr>
            <a:r>
              <a:rPr sz="1250" b="0" i="0">
                <a:solidFill>
                  <a:srgbClr val="444B57"/>
                </a:solidFill>
                <a:latin typeface="Calibri"/>
              </a:rPr>
              <a:t/>
            </a:r>
          </a:p>
          <a:p>
            <a:pPr>
              <a:lnSpc>
                <a:spcPts val="1900"/>
              </a:lnSpc>
            </a:pPr>
            <a:r>
              <a:rPr sz="1250" b="0" i="0">
                <a:solidFill>
                  <a:srgbClr val="444B57"/>
                </a:solidFill>
                <a:latin typeface="Calibri"/>
              </a:rPr>
              <a:t>Bu bir raporlama sorunu değil, ana veri (MDM) sorunu.</a:t>
            </a:r>
          </a:p>
        </p:txBody>
      </p:sp>
      <p:sp>
        <p:nvSpPr>
          <p:cNvPr id="18" name="TextBox 17"/>
          <p:cNvSpPr txBox="1"/>
          <p:nvPr/>
        </p:nvSpPr>
        <p:spPr>
          <a:xfrm>
            <a:off x="640080" y="5074920"/>
            <a:ext cx="10881360" cy="822960"/>
          </a:xfrm>
          <a:prstGeom prst="rect">
            <a:avLst/>
          </a:prstGeom>
          <a:noFill/>
        </p:spPr>
        <p:txBody>
          <a:bodyPr wrap="square" lIns="0" rIns="0" tIns="0" bIns="0">
            <a:spAutoFit/>
          </a:bodyPr>
          <a:lstStyle/>
          <a:p>
            <a:pPr>
              <a:lnSpc>
                <a:spcPts val="1800"/>
              </a:lnSpc>
            </a:pPr>
            <a:r>
              <a:rPr sz="1200" b="0" i="1">
                <a:solidFill>
                  <a:srgbClr val="8A8F98"/>
                </a:solidFill>
                <a:latin typeface="Calibri"/>
              </a:rPr>
              <a:t>Otomotiv bilerek seçildi: VIN hem bir varlık hem de el değiştiren bir nesne, iş emri çok aşamalı uzun bir süreç, garanti talebi satış sisteminin dışında ikinci bir onaya bağlı. Üçü de gerçek modelleme problemi.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MADALYON</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Mimari</a:t>
            </a:r>
          </a:p>
        </p:txBody>
      </p:sp>
      <p:sp>
        <p:nvSpPr>
          <p:cNvPr id="4" name="Rounded Rectangle 3"/>
          <p:cNvSpPr/>
          <p:nvPr/>
        </p:nvSpPr>
        <p:spPr>
          <a:xfrm>
            <a:off x="640080" y="1874519"/>
            <a:ext cx="1920240" cy="164592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84831"/>
            <a:ext cx="182880" cy="182880"/>
          </a:xfrm>
          <a:prstGeom prst="ellipse">
            <a:avLst/>
          </a:prstGeom>
          <a:solidFill>
            <a:srgbClr val="444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359152"/>
            <a:ext cx="1645920" cy="502920"/>
          </a:xfrm>
          <a:prstGeom prst="rect">
            <a:avLst/>
          </a:prstGeom>
          <a:noFill/>
        </p:spPr>
        <p:txBody>
          <a:bodyPr wrap="square" lIns="0" rIns="0" tIns="0" bIns="0">
            <a:spAutoFit/>
          </a:bodyPr>
          <a:lstStyle/>
          <a:p>
            <a:pPr>
              <a:lnSpc>
                <a:spcPts val="1800"/>
              </a:lnSpc>
            </a:pPr>
            <a:r>
              <a:rPr sz="1450" b="1" i="0">
                <a:solidFill>
                  <a:srgbClr val="22252B"/>
                </a:solidFill>
                <a:latin typeface="Cambria"/>
              </a:rPr>
              <a:t>6 Kaynak</a:t>
            </a:r>
          </a:p>
          <a:p>
            <a:pPr>
              <a:lnSpc>
                <a:spcPts val="1800"/>
              </a:lnSpc>
            </a:pPr>
            <a:r>
              <a:rPr sz="1450" b="1" i="0">
                <a:solidFill>
                  <a:srgbClr val="22252B"/>
                </a:solidFill>
                <a:latin typeface="Cambria"/>
              </a:rPr>
              <a:t>Sistem</a:t>
            </a:r>
          </a:p>
        </p:txBody>
      </p:sp>
      <p:sp>
        <p:nvSpPr>
          <p:cNvPr id="7" name="TextBox 6"/>
          <p:cNvSpPr txBox="1"/>
          <p:nvPr/>
        </p:nvSpPr>
        <p:spPr>
          <a:xfrm>
            <a:off x="822959" y="2852928"/>
            <a:ext cx="1645920" cy="548640"/>
          </a:xfrm>
          <a:prstGeom prst="rect">
            <a:avLst/>
          </a:prstGeom>
          <a:noFill/>
        </p:spPr>
        <p:txBody>
          <a:bodyPr wrap="square" lIns="0" rIns="0" tIns="0" bIns="0">
            <a:spAutoFit/>
          </a:bodyPr>
          <a:lstStyle/>
          <a:p>
            <a:pPr>
              <a:lnSpc>
                <a:spcPts val="1400"/>
              </a:lnSpc>
            </a:pPr>
            <a:r>
              <a:rPr sz="1050" b="0" i="0">
                <a:solidFill>
                  <a:srgbClr val="8A8F98"/>
                </a:solidFill>
                <a:latin typeface="Calibri"/>
              </a:rPr>
              <a:t>CSV · JSON · XLSX</a:t>
            </a:r>
          </a:p>
        </p:txBody>
      </p:sp>
      <p:sp>
        <p:nvSpPr>
          <p:cNvPr id="8" name="Right Arrow 7"/>
          <p:cNvSpPr/>
          <p:nvPr/>
        </p:nvSpPr>
        <p:spPr>
          <a:xfrm>
            <a:off x="2624328" y="2606040"/>
            <a:ext cx="201168" cy="164592"/>
          </a:xfrm>
          <a:prstGeom prst="rightArrow">
            <a:avLst/>
          </a:prstGeom>
          <a:solidFill>
            <a:srgbClr val="C9C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9504" y="1874519"/>
            <a:ext cx="1920240" cy="164592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72384" y="2084831"/>
            <a:ext cx="182880" cy="182880"/>
          </a:xfrm>
          <a:prstGeom prst="ellipse">
            <a:avLst/>
          </a:prstGeom>
          <a:solidFill>
            <a:srgbClr val="9C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72384" y="2359152"/>
            <a:ext cx="1645920" cy="502920"/>
          </a:xfrm>
          <a:prstGeom prst="rect">
            <a:avLst/>
          </a:prstGeom>
          <a:noFill/>
        </p:spPr>
        <p:txBody>
          <a:bodyPr wrap="square" lIns="0" rIns="0" tIns="0" bIns="0">
            <a:spAutoFit/>
          </a:bodyPr>
          <a:lstStyle/>
          <a:p>
            <a:pPr>
              <a:lnSpc>
                <a:spcPts val="1800"/>
              </a:lnSpc>
            </a:pPr>
            <a:r>
              <a:rPr sz="1450" b="1" i="0">
                <a:solidFill>
                  <a:srgbClr val="22252B"/>
                </a:solidFill>
                <a:latin typeface="Cambria"/>
              </a:rPr>
              <a:t>Bronze</a:t>
            </a:r>
          </a:p>
        </p:txBody>
      </p:sp>
      <p:sp>
        <p:nvSpPr>
          <p:cNvPr id="12" name="TextBox 11"/>
          <p:cNvSpPr txBox="1"/>
          <p:nvPr/>
        </p:nvSpPr>
        <p:spPr>
          <a:xfrm>
            <a:off x="3072384" y="2852928"/>
            <a:ext cx="1645920" cy="548640"/>
          </a:xfrm>
          <a:prstGeom prst="rect">
            <a:avLst/>
          </a:prstGeom>
          <a:noFill/>
        </p:spPr>
        <p:txBody>
          <a:bodyPr wrap="square" lIns="0" rIns="0" tIns="0" bIns="0">
            <a:spAutoFit/>
          </a:bodyPr>
          <a:lstStyle/>
          <a:p>
            <a:pPr>
              <a:lnSpc>
                <a:spcPts val="1400"/>
              </a:lnSpc>
            </a:pPr>
            <a:r>
              <a:rPr sz="1050" b="0" i="0">
                <a:solidFill>
                  <a:srgbClr val="8A8F98"/>
                </a:solidFill>
                <a:latin typeface="Calibri"/>
              </a:rPr>
              <a:t>Ham, değişmez</a:t>
            </a:r>
          </a:p>
          <a:p>
            <a:pPr>
              <a:lnSpc>
                <a:spcPts val="1400"/>
              </a:lnSpc>
            </a:pPr>
            <a:r>
              <a:rPr sz="1050" b="0" i="0">
                <a:solidFill>
                  <a:srgbClr val="8A8F98"/>
                </a:solidFill>
                <a:latin typeface="Calibri"/>
              </a:rPr>
              <a:t>PySpark → Delta</a:t>
            </a:r>
          </a:p>
        </p:txBody>
      </p:sp>
      <p:sp>
        <p:nvSpPr>
          <p:cNvPr id="13" name="Right Arrow 12"/>
          <p:cNvSpPr/>
          <p:nvPr/>
        </p:nvSpPr>
        <p:spPr>
          <a:xfrm>
            <a:off x="4873752" y="2606040"/>
            <a:ext cx="201168" cy="164592"/>
          </a:xfrm>
          <a:prstGeom prst="rightArrow">
            <a:avLst/>
          </a:prstGeom>
          <a:solidFill>
            <a:srgbClr val="C9C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38928" y="1874519"/>
            <a:ext cx="1920240" cy="164592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21808" y="2084831"/>
            <a:ext cx="182880" cy="182880"/>
          </a:xfrm>
          <a:prstGeom prst="ellipse">
            <a:avLst/>
          </a:prstGeom>
          <a:solidFill>
            <a:srgbClr val="7C8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21808" y="2359152"/>
            <a:ext cx="1645920" cy="502920"/>
          </a:xfrm>
          <a:prstGeom prst="rect">
            <a:avLst/>
          </a:prstGeom>
          <a:noFill/>
        </p:spPr>
        <p:txBody>
          <a:bodyPr wrap="square" lIns="0" rIns="0" tIns="0" bIns="0">
            <a:spAutoFit/>
          </a:bodyPr>
          <a:lstStyle/>
          <a:p>
            <a:pPr>
              <a:lnSpc>
                <a:spcPts val="1800"/>
              </a:lnSpc>
            </a:pPr>
            <a:r>
              <a:rPr sz="1450" b="1" i="0">
                <a:solidFill>
                  <a:srgbClr val="22252B"/>
                </a:solidFill>
                <a:latin typeface="Cambria"/>
              </a:rPr>
              <a:t>Silver</a:t>
            </a:r>
          </a:p>
        </p:txBody>
      </p:sp>
      <p:sp>
        <p:nvSpPr>
          <p:cNvPr id="17" name="TextBox 16"/>
          <p:cNvSpPr txBox="1"/>
          <p:nvPr/>
        </p:nvSpPr>
        <p:spPr>
          <a:xfrm>
            <a:off x="5321808" y="2852928"/>
            <a:ext cx="1645920" cy="548640"/>
          </a:xfrm>
          <a:prstGeom prst="rect">
            <a:avLst/>
          </a:prstGeom>
          <a:noFill/>
        </p:spPr>
        <p:txBody>
          <a:bodyPr wrap="square" lIns="0" rIns="0" tIns="0" bIns="0">
            <a:spAutoFit/>
          </a:bodyPr>
          <a:lstStyle/>
          <a:p>
            <a:pPr>
              <a:lnSpc>
                <a:spcPts val="1400"/>
              </a:lnSpc>
            </a:pPr>
            <a:r>
              <a:rPr sz="1050" b="0" i="0">
                <a:solidFill>
                  <a:srgbClr val="8A8F98"/>
                </a:solidFill>
                <a:latin typeface="Calibri"/>
              </a:rPr>
              <a:t>Temiz, MDM, DQ</a:t>
            </a:r>
          </a:p>
          <a:p>
            <a:pPr>
              <a:lnSpc>
                <a:spcPts val="1400"/>
              </a:lnSpc>
            </a:pPr>
            <a:r>
              <a:rPr sz="1050" b="0" i="0">
                <a:solidFill>
                  <a:srgbClr val="8A8F98"/>
                </a:solidFill>
                <a:latin typeface="Calibri"/>
              </a:rPr>
              <a:t>PySpark → Delta</a:t>
            </a:r>
          </a:p>
        </p:txBody>
      </p:sp>
      <p:sp>
        <p:nvSpPr>
          <p:cNvPr id="18" name="Right Arrow 17"/>
          <p:cNvSpPr/>
          <p:nvPr/>
        </p:nvSpPr>
        <p:spPr>
          <a:xfrm>
            <a:off x="7123176" y="2606040"/>
            <a:ext cx="201168" cy="164592"/>
          </a:xfrm>
          <a:prstGeom prst="rightArrow">
            <a:avLst/>
          </a:prstGeom>
          <a:solidFill>
            <a:srgbClr val="C9C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88352" y="1874519"/>
            <a:ext cx="1920240" cy="164592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71231" y="2084831"/>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71231" y="2359152"/>
            <a:ext cx="1645920" cy="502920"/>
          </a:xfrm>
          <a:prstGeom prst="rect">
            <a:avLst/>
          </a:prstGeom>
          <a:noFill/>
        </p:spPr>
        <p:txBody>
          <a:bodyPr wrap="square" lIns="0" rIns="0" tIns="0" bIns="0">
            <a:spAutoFit/>
          </a:bodyPr>
          <a:lstStyle/>
          <a:p>
            <a:pPr>
              <a:lnSpc>
                <a:spcPts val="1800"/>
              </a:lnSpc>
            </a:pPr>
            <a:r>
              <a:rPr sz="1450" b="1" i="0">
                <a:solidFill>
                  <a:srgbClr val="22252B"/>
                </a:solidFill>
                <a:latin typeface="Cambria"/>
              </a:rPr>
              <a:t>Gold</a:t>
            </a:r>
          </a:p>
        </p:txBody>
      </p:sp>
      <p:sp>
        <p:nvSpPr>
          <p:cNvPr id="22" name="TextBox 21"/>
          <p:cNvSpPr txBox="1"/>
          <p:nvPr/>
        </p:nvSpPr>
        <p:spPr>
          <a:xfrm>
            <a:off x="7571231" y="2852928"/>
            <a:ext cx="1645920" cy="548640"/>
          </a:xfrm>
          <a:prstGeom prst="rect">
            <a:avLst/>
          </a:prstGeom>
          <a:noFill/>
        </p:spPr>
        <p:txBody>
          <a:bodyPr wrap="square" lIns="0" rIns="0" tIns="0" bIns="0">
            <a:spAutoFit/>
          </a:bodyPr>
          <a:lstStyle/>
          <a:p>
            <a:pPr>
              <a:lnSpc>
                <a:spcPts val="1400"/>
              </a:lnSpc>
            </a:pPr>
            <a:r>
              <a:rPr sz="1050" b="0" i="0">
                <a:solidFill>
                  <a:srgbClr val="8A8F98"/>
                </a:solidFill>
                <a:latin typeface="Calibri"/>
              </a:rPr>
              <a:t>Yıldız şema, SCD2</a:t>
            </a:r>
          </a:p>
          <a:p>
            <a:pPr>
              <a:lnSpc>
                <a:spcPts val="1400"/>
              </a:lnSpc>
            </a:pPr>
            <a:r>
              <a:rPr sz="1050" b="0" i="0">
                <a:solidFill>
                  <a:srgbClr val="8A8F98"/>
                </a:solidFill>
                <a:latin typeface="Calibri"/>
              </a:rPr>
              <a:t>T-SQL → Warehouse</a:t>
            </a:r>
          </a:p>
        </p:txBody>
      </p:sp>
      <p:sp>
        <p:nvSpPr>
          <p:cNvPr id="23" name="Right Arrow 22"/>
          <p:cNvSpPr/>
          <p:nvPr/>
        </p:nvSpPr>
        <p:spPr>
          <a:xfrm>
            <a:off x="9372600" y="2606040"/>
            <a:ext cx="201168" cy="164592"/>
          </a:xfrm>
          <a:prstGeom prst="rightArrow">
            <a:avLst/>
          </a:prstGeom>
          <a:solidFill>
            <a:srgbClr val="C9C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37776" y="1874519"/>
            <a:ext cx="1920240" cy="164592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20655" y="2084831"/>
            <a:ext cx="182880" cy="182880"/>
          </a:xfrm>
          <a:prstGeom prst="ellipse">
            <a:avLst/>
          </a:prstGeom>
          <a:solidFill>
            <a:srgbClr val="3F6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0655" y="2359152"/>
            <a:ext cx="1645920" cy="502920"/>
          </a:xfrm>
          <a:prstGeom prst="rect">
            <a:avLst/>
          </a:prstGeom>
          <a:noFill/>
        </p:spPr>
        <p:txBody>
          <a:bodyPr wrap="square" lIns="0" rIns="0" tIns="0" bIns="0">
            <a:spAutoFit/>
          </a:bodyPr>
          <a:lstStyle/>
          <a:p>
            <a:pPr>
              <a:lnSpc>
                <a:spcPts val="1800"/>
              </a:lnSpc>
            </a:pPr>
            <a:r>
              <a:rPr sz="1450" b="1" i="0">
                <a:solidFill>
                  <a:srgbClr val="22252B"/>
                </a:solidFill>
                <a:latin typeface="Cambria"/>
              </a:rPr>
              <a:t>Power BI</a:t>
            </a:r>
          </a:p>
        </p:txBody>
      </p:sp>
      <p:sp>
        <p:nvSpPr>
          <p:cNvPr id="27" name="TextBox 26"/>
          <p:cNvSpPr txBox="1"/>
          <p:nvPr/>
        </p:nvSpPr>
        <p:spPr>
          <a:xfrm>
            <a:off x="9820655" y="2852928"/>
            <a:ext cx="1645920" cy="548640"/>
          </a:xfrm>
          <a:prstGeom prst="rect">
            <a:avLst/>
          </a:prstGeom>
          <a:noFill/>
        </p:spPr>
        <p:txBody>
          <a:bodyPr wrap="square" lIns="0" rIns="0" tIns="0" bIns="0">
            <a:spAutoFit/>
          </a:bodyPr>
          <a:lstStyle/>
          <a:p>
            <a:pPr>
              <a:lnSpc>
                <a:spcPts val="1400"/>
              </a:lnSpc>
            </a:pPr>
            <a:r>
              <a:rPr sz="1050" b="0" i="0">
                <a:solidFill>
                  <a:srgbClr val="8A8F98"/>
                </a:solidFill>
                <a:latin typeface="Calibri"/>
              </a:rPr>
              <a:t>Direct Lake</a:t>
            </a:r>
          </a:p>
          <a:p>
            <a:pPr>
              <a:lnSpc>
                <a:spcPts val="1400"/>
              </a:lnSpc>
            </a:pPr>
            <a:r>
              <a:rPr sz="1050" b="0" i="0">
                <a:solidFill>
                  <a:srgbClr val="8A8F98"/>
                </a:solidFill>
                <a:latin typeface="Calibri"/>
              </a:rPr>
              <a:t>semantik model</a:t>
            </a:r>
          </a:p>
        </p:txBody>
      </p:sp>
      <p:sp>
        <p:nvSpPr>
          <p:cNvPr id="28" name="Rounded Rectangle 27"/>
          <p:cNvSpPr/>
          <p:nvPr/>
        </p:nvSpPr>
        <p:spPr>
          <a:xfrm>
            <a:off x="640080" y="3886200"/>
            <a:ext cx="10881360" cy="822960"/>
          </a:xfrm>
          <a:prstGeom prst="roundRect">
            <a:avLst>
              <a:gd name="adj" fmla="val 5000"/>
            </a:avLst>
          </a:prstGeom>
          <a:solidFill>
            <a:srgbClr val="EA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069080"/>
            <a:ext cx="640080" cy="411480"/>
          </a:xfrm>
          <a:prstGeom prst="rect">
            <a:avLst/>
          </a:prstGeom>
          <a:noFill/>
        </p:spPr>
        <p:txBody>
          <a:bodyPr wrap="square" lIns="0" rIns="0" tIns="0" bIns="0">
            <a:spAutoFit/>
          </a:bodyPr>
          <a:lstStyle/>
          <a:p>
            <a:r>
              <a:rPr sz="1800" b="1" i="0">
                <a:solidFill>
                  <a:srgbClr val="BF5B26"/>
                </a:solidFill>
                <a:latin typeface="Cambria"/>
              </a:rPr>
              <a:t>ctl</a:t>
            </a:r>
          </a:p>
        </p:txBody>
      </p:sp>
      <p:sp>
        <p:nvSpPr>
          <p:cNvPr id="30" name="TextBox 29"/>
          <p:cNvSpPr txBox="1"/>
          <p:nvPr/>
        </p:nvSpPr>
        <p:spPr>
          <a:xfrm>
            <a:off x="1600200" y="4041648"/>
            <a:ext cx="9601200" cy="594360"/>
          </a:xfrm>
          <a:prstGeom prst="rect">
            <a:avLst/>
          </a:prstGeom>
          <a:noFill/>
        </p:spPr>
        <p:txBody>
          <a:bodyPr wrap="square" lIns="0" rIns="0" tIns="0" bIns="0">
            <a:spAutoFit/>
          </a:bodyPr>
          <a:lstStyle/>
          <a:p>
            <a:pPr>
              <a:lnSpc>
                <a:spcPts val="1700"/>
              </a:lnSpc>
            </a:pPr>
            <a:r>
              <a:rPr sz="1200" b="0" i="0">
                <a:solidFill>
                  <a:srgbClr val="444B57"/>
                </a:solidFill>
                <a:latin typeface="Calibri"/>
              </a:rPr>
              <a:t>Kontrol düzlemi — her katmanı besleyen metadata: kaynak yapılandırması, çalışma günlüğü, veri kalitesi kuralları, VIN referans tabloları. Yeni bir kaynak eklemek yeni kod değil, ctl.source_config'e yeni bir satır.</a:t>
            </a:r>
          </a:p>
        </p:txBody>
      </p:sp>
      <p:sp>
        <p:nvSpPr>
          <p:cNvPr id="31" name="TextBox 30"/>
          <p:cNvSpPr txBox="1"/>
          <p:nvPr/>
        </p:nvSpPr>
        <p:spPr>
          <a:xfrm>
            <a:off x="640080" y="5029200"/>
            <a:ext cx="10881360" cy="822960"/>
          </a:xfrm>
          <a:prstGeom prst="rect">
            <a:avLst/>
          </a:prstGeom>
          <a:noFill/>
        </p:spPr>
        <p:txBody>
          <a:bodyPr wrap="square" lIns="0" rIns="0" tIns="0" bIns="0">
            <a:spAutoFit/>
          </a:bodyPr>
          <a:lstStyle/>
          <a:p>
            <a:pPr>
              <a:lnSpc>
                <a:spcPts val="1800"/>
              </a:lnSpc>
            </a:pPr>
            <a:r>
              <a:rPr sz="1200" b="0" i="0">
                <a:solidFill>
                  <a:srgbClr val="8A8F98"/>
                </a:solidFill>
                <a:latin typeface="Calibri"/>
              </a:rPr>
              <a:t>Neden iki motor? Silver'daki iş satır bazlı algoritma — bulanık isim eşleştirme, VIN check digit, PII hash'leme — Python'da okunabilir ve test edilebilir.</a:t>
            </a:r>
          </a:p>
          <a:p>
            <a:pPr>
              <a:lnSpc>
                <a:spcPts val="1800"/>
              </a:lnSpc>
            </a:pPr>
            <a:r>
              <a:rPr sz="1200" b="0" i="0">
                <a:solidFill>
                  <a:srgbClr val="8A8F98"/>
                </a:solidFill>
                <a:latin typeface="Calibri"/>
              </a:rPr>
              <a:t>Gold'daki iş küme bazlı boyutsal modelleme — surrogate key, SCD2, fact yükleme — T-SQL'in doğduğu yer. Karar ve bedeli ADR-0002'de yazılı.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GİRDİ</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Kaynak veri</a:t>
            </a:r>
          </a:p>
        </p:txBody>
      </p:sp>
      <p:sp>
        <p:nvSpPr>
          <p:cNvPr id="4" name="Rounded Rectangle 3"/>
          <p:cNvSpPr/>
          <p:nvPr/>
        </p:nvSpPr>
        <p:spPr>
          <a:xfrm>
            <a:off x="640080" y="1572768"/>
            <a:ext cx="3429000" cy="1325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737360"/>
            <a:ext cx="2194560" cy="320040"/>
          </a:xfrm>
          <a:prstGeom prst="rect">
            <a:avLst/>
          </a:prstGeom>
          <a:noFill/>
        </p:spPr>
        <p:txBody>
          <a:bodyPr wrap="square" lIns="0" rIns="0" tIns="0" bIns="0">
            <a:spAutoFit/>
          </a:bodyPr>
          <a:lstStyle/>
          <a:p>
            <a:r>
              <a:rPr sz="1550" b="1" i="0">
                <a:solidFill>
                  <a:srgbClr val="22252B"/>
                </a:solidFill>
                <a:latin typeface="Cambria"/>
              </a:rPr>
              <a:t>DMS</a:t>
            </a:r>
          </a:p>
        </p:txBody>
      </p:sp>
      <p:sp>
        <p:nvSpPr>
          <p:cNvPr id="6" name="TextBox 5"/>
          <p:cNvSpPr txBox="1"/>
          <p:nvPr/>
        </p:nvSpPr>
        <p:spPr>
          <a:xfrm>
            <a:off x="896112" y="2066543"/>
            <a:ext cx="2926080" cy="256032"/>
          </a:xfrm>
          <a:prstGeom prst="rect">
            <a:avLst/>
          </a:prstGeom>
          <a:noFill/>
        </p:spPr>
        <p:txBody>
          <a:bodyPr wrap="square" lIns="0" rIns="0" tIns="0" bIns="0">
            <a:spAutoFit/>
          </a:bodyPr>
          <a:lstStyle/>
          <a:p>
            <a:r>
              <a:rPr sz="1050" b="1" i="0">
                <a:solidFill>
                  <a:srgbClr val="BF5B26"/>
                </a:solidFill>
                <a:latin typeface="Calibri"/>
              </a:rPr>
              <a:t>CSV · windows-1254</a:t>
            </a:r>
          </a:p>
        </p:txBody>
      </p:sp>
      <p:sp>
        <p:nvSpPr>
          <p:cNvPr id="7" name="TextBox 6"/>
          <p:cNvSpPr txBox="1"/>
          <p:nvPr/>
        </p:nvSpPr>
        <p:spPr>
          <a:xfrm>
            <a:off x="896112" y="2322576"/>
            <a:ext cx="2926080" cy="502920"/>
          </a:xfrm>
          <a:prstGeom prst="rect">
            <a:avLst/>
          </a:prstGeom>
          <a:noFill/>
        </p:spPr>
        <p:txBody>
          <a:bodyPr wrap="square" lIns="0" rIns="0" tIns="0" bIns="0">
            <a:spAutoFit/>
          </a:bodyPr>
          <a:lstStyle/>
          <a:p>
            <a:pPr>
              <a:lnSpc>
                <a:spcPts val="1400"/>
              </a:lnSpc>
            </a:pPr>
            <a:r>
              <a:rPr sz="1100" b="0" i="0">
                <a:solidFill>
                  <a:srgbClr val="8A8F98"/>
                </a:solidFill>
                <a:latin typeface="Calibri"/>
              </a:rPr>
              <a:t>Bayi, personel, müşteri,</a:t>
            </a:r>
          </a:p>
          <a:p>
            <a:pPr>
              <a:lnSpc>
                <a:spcPts val="1400"/>
              </a:lnSpc>
            </a:pPr>
            <a:r>
              <a:rPr sz="1100" b="0" i="0">
                <a:solidFill>
                  <a:srgbClr val="8A8F98"/>
                </a:solidFill>
                <a:latin typeface="Calibri"/>
              </a:rPr>
              <a:t>araç stoku, satış sözleşmesi</a:t>
            </a:r>
          </a:p>
        </p:txBody>
      </p:sp>
      <p:sp>
        <p:nvSpPr>
          <p:cNvPr id="8" name="Rounded Rectangle 7"/>
          <p:cNvSpPr/>
          <p:nvPr/>
        </p:nvSpPr>
        <p:spPr>
          <a:xfrm>
            <a:off x="4343400" y="1572768"/>
            <a:ext cx="3429000" cy="1325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2" y="1737360"/>
            <a:ext cx="2194560" cy="320040"/>
          </a:xfrm>
          <a:prstGeom prst="rect">
            <a:avLst/>
          </a:prstGeom>
          <a:noFill/>
        </p:spPr>
        <p:txBody>
          <a:bodyPr wrap="square" lIns="0" rIns="0" tIns="0" bIns="0">
            <a:spAutoFit/>
          </a:bodyPr>
          <a:lstStyle/>
          <a:p>
            <a:r>
              <a:rPr sz="1550" b="1" i="0">
                <a:solidFill>
                  <a:srgbClr val="22252B"/>
                </a:solidFill>
                <a:latin typeface="Cambria"/>
              </a:rPr>
              <a:t>CRM</a:t>
            </a:r>
          </a:p>
        </p:txBody>
      </p:sp>
      <p:sp>
        <p:nvSpPr>
          <p:cNvPr id="10" name="TextBox 9"/>
          <p:cNvSpPr txBox="1"/>
          <p:nvPr/>
        </p:nvSpPr>
        <p:spPr>
          <a:xfrm>
            <a:off x="4599432" y="2066543"/>
            <a:ext cx="2926080" cy="256032"/>
          </a:xfrm>
          <a:prstGeom prst="rect">
            <a:avLst/>
          </a:prstGeom>
          <a:noFill/>
        </p:spPr>
        <p:txBody>
          <a:bodyPr wrap="square" lIns="0" rIns="0" tIns="0" bIns="0">
            <a:spAutoFit/>
          </a:bodyPr>
          <a:lstStyle/>
          <a:p>
            <a:r>
              <a:rPr sz="1050" b="1" i="0">
                <a:solidFill>
                  <a:srgbClr val="BF5B26"/>
                </a:solidFill>
                <a:latin typeface="Calibri"/>
              </a:rPr>
              <a:t>JSON</a:t>
            </a:r>
          </a:p>
        </p:txBody>
      </p:sp>
      <p:sp>
        <p:nvSpPr>
          <p:cNvPr id="11" name="TextBox 10"/>
          <p:cNvSpPr txBox="1"/>
          <p:nvPr/>
        </p:nvSpPr>
        <p:spPr>
          <a:xfrm>
            <a:off x="4599432" y="2322576"/>
            <a:ext cx="2926080" cy="502920"/>
          </a:xfrm>
          <a:prstGeom prst="rect">
            <a:avLst/>
          </a:prstGeom>
          <a:noFill/>
        </p:spPr>
        <p:txBody>
          <a:bodyPr wrap="square" lIns="0" rIns="0" tIns="0" bIns="0">
            <a:spAutoFit/>
          </a:bodyPr>
          <a:lstStyle/>
          <a:p>
            <a:pPr>
              <a:lnSpc>
                <a:spcPts val="1400"/>
              </a:lnSpc>
            </a:pPr>
            <a:r>
              <a:rPr sz="1100" b="0" i="0">
                <a:solidFill>
                  <a:srgbClr val="8A8F98"/>
                </a:solidFill>
                <a:latin typeface="Calibri"/>
              </a:rPr>
              <a:t>Müşteri — ikinci kayıt seti</a:t>
            </a:r>
          </a:p>
        </p:txBody>
      </p:sp>
      <p:sp>
        <p:nvSpPr>
          <p:cNvPr id="12" name="Rounded Rectangle 11"/>
          <p:cNvSpPr/>
          <p:nvPr/>
        </p:nvSpPr>
        <p:spPr>
          <a:xfrm>
            <a:off x="8046719" y="1572768"/>
            <a:ext cx="3429000" cy="1325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1" y="1737360"/>
            <a:ext cx="2194560" cy="320040"/>
          </a:xfrm>
          <a:prstGeom prst="rect">
            <a:avLst/>
          </a:prstGeom>
          <a:noFill/>
        </p:spPr>
        <p:txBody>
          <a:bodyPr wrap="square" lIns="0" rIns="0" tIns="0" bIns="0">
            <a:spAutoFit/>
          </a:bodyPr>
          <a:lstStyle/>
          <a:p>
            <a:r>
              <a:rPr sz="1550" b="1" i="0">
                <a:solidFill>
                  <a:srgbClr val="22252B"/>
                </a:solidFill>
                <a:latin typeface="Cambria"/>
              </a:rPr>
              <a:t>Workshop</a:t>
            </a:r>
          </a:p>
        </p:txBody>
      </p:sp>
      <p:sp>
        <p:nvSpPr>
          <p:cNvPr id="14" name="TextBox 13"/>
          <p:cNvSpPr txBox="1"/>
          <p:nvPr/>
        </p:nvSpPr>
        <p:spPr>
          <a:xfrm>
            <a:off x="8302751" y="2066543"/>
            <a:ext cx="2926080" cy="256032"/>
          </a:xfrm>
          <a:prstGeom prst="rect">
            <a:avLst/>
          </a:prstGeom>
          <a:noFill/>
        </p:spPr>
        <p:txBody>
          <a:bodyPr wrap="square" lIns="0" rIns="0" tIns="0" bIns="0">
            <a:spAutoFit/>
          </a:bodyPr>
          <a:lstStyle/>
          <a:p>
            <a:r>
              <a:rPr sz="1050" b="1" i="0">
                <a:solidFill>
                  <a:srgbClr val="BF5B26"/>
                </a:solidFill>
                <a:latin typeface="Calibri"/>
              </a:rPr>
              <a:t>Günlük CSV · 918 klasör</a:t>
            </a:r>
          </a:p>
        </p:txBody>
      </p:sp>
      <p:sp>
        <p:nvSpPr>
          <p:cNvPr id="15" name="TextBox 14"/>
          <p:cNvSpPr txBox="1"/>
          <p:nvPr/>
        </p:nvSpPr>
        <p:spPr>
          <a:xfrm>
            <a:off x="8302751" y="2322576"/>
            <a:ext cx="2926080" cy="502920"/>
          </a:xfrm>
          <a:prstGeom prst="rect">
            <a:avLst/>
          </a:prstGeom>
          <a:noFill/>
        </p:spPr>
        <p:txBody>
          <a:bodyPr wrap="square" lIns="0" rIns="0" tIns="0" bIns="0">
            <a:spAutoFit/>
          </a:bodyPr>
          <a:lstStyle/>
          <a:p>
            <a:pPr>
              <a:lnSpc>
                <a:spcPts val="1400"/>
              </a:lnSpc>
            </a:pPr>
            <a:r>
              <a:rPr sz="1100" b="0" i="0">
                <a:solidFill>
                  <a:srgbClr val="8A8F98"/>
                </a:solidFill>
                <a:latin typeface="Calibri"/>
              </a:rPr>
              <a:t>İş emri ve iş emri satırları</a:t>
            </a:r>
          </a:p>
        </p:txBody>
      </p:sp>
      <p:sp>
        <p:nvSpPr>
          <p:cNvPr id="16" name="Rounded Rectangle 15"/>
          <p:cNvSpPr/>
          <p:nvPr/>
        </p:nvSpPr>
        <p:spPr>
          <a:xfrm>
            <a:off x="640080" y="3054096"/>
            <a:ext cx="3429000" cy="1325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218688"/>
            <a:ext cx="2194560" cy="320040"/>
          </a:xfrm>
          <a:prstGeom prst="rect">
            <a:avLst/>
          </a:prstGeom>
          <a:noFill/>
        </p:spPr>
        <p:txBody>
          <a:bodyPr wrap="square" lIns="0" rIns="0" tIns="0" bIns="0">
            <a:spAutoFit/>
          </a:bodyPr>
          <a:lstStyle/>
          <a:p>
            <a:r>
              <a:rPr sz="1550" b="1" i="0">
                <a:solidFill>
                  <a:srgbClr val="22252B"/>
                </a:solidFill>
                <a:latin typeface="Cambria"/>
              </a:rPr>
              <a:t>Parts</a:t>
            </a:r>
          </a:p>
        </p:txBody>
      </p:sp>
      <p:sp>
        <p:nvSpPr>
          <p:cNvPr id="18" name="TextBox 17"/>
          <p:cNvSpPr txBox="1"/>
          <p:nvPr/>
        </p:nvSpPr>
        <p:spPr>
          <a:xfrm>
            <a:off x="896112" y="3547872"/>
            <a:ext cx="2926080" cy="256032"/>
          </a:xfrm>
          <a:prstGeom prst="rect">
            <a:avLst/>
          </a:prstGeom>
          <a:noFill/>
        </p:spPr>
        <p:txBody>
          <a:bodyPr wrap="square" lIns="0" rIns="0" tIns="0" bIns="0">
            <a:spAutoFit/>
          </a:bodyPr>
          <a:lstStyle/>
          <a:p>
            <a:r>
              <a:rPr sz="1050" b="1" i="0">
                <a:solidFill>
                  <a:srgbClr val="BF5B26"/>
                </a:solidFill>
                <a:latin typeface="Calibri"/>
              </a:rPr>
              <a:t>CSV</a:t>
            </a:r>
          </a:p>
        </p:txBody>
      </p:sp>
      <p:sp>
        <p:nvSpPr>
          <p:cNvPr id="19" name="TextBox 18"/>
          <p:cNvSpPr txBox="1"/>
          <p:nvPr/>
        </p:nvSpPr>
        <p:spPr>
          <a:xfrm>
            <a:off x="896112" y="3803904"/>
            <a:ext cx="2926080" cy="502920"/>
          </a:xfrm>
          <a:prstGeom prst="rect">
            <a:avLst/>
          </a:prstGeom>
          <a:noFill/>
        </p:spPr>
        <p:txBody>
          <a:bodyPr wrap="square" lIns="0" rIns="0" tIns="0" bIns="0">
            <a:spAutoFit/>
          </a:bodyPr>
          <a:lstStyle/>
          <a:p>
            <a:pPr>
              <a:lnSpc>
                <a:spcPts val="1400"/>
              </a:lnSpc>
            </a:pPr>
            <a:r>
              <a:rPr sz="1100" b="0" i="0">
                <a:solidFill>
                  <a:srgbClr val="8A8F98"/>
                </a:solidFill>
                <a:latin typeface="Calibri"/>
              </a:rPr>
              <a:t>Tedarikçi, parça,</a:t>
            </a:r>
          </a:p>
          <a:p>
            <a:pPr>
              <a:lnSpc>
                <a:spcPts val="1400"/>
              </a:lnSpc>
            </a:pPr>
            <a:r>
              <a:rPr sz="1100" b="0" i="0">
                <a:solidFill>
                  <a:srgbClr val="8A8F98"/>
                </a:solidFill>
                <a:latin typeface="Calibri"/>
              </a:rPr>
              <a:t>satın alma siparişi</a:t>
            </a:r>
          </a:p>
        </p:txBody>
      </p:sp>
      <p:sp>
        <p:nvSpPr>
          <p:cNvPr id="20" name="Rounded Rectangle 19"/>
          <p:cNvSpPr/>
          <p:nvPr/>
        </p:nvSpPr>
        <p:spPr>
          <a:xfrm>
            <a:off x="4343400" y="3054096"/>
            <a:ext cx="3429000" cy="1325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9432" y="3218688"/>
            <a:ext cx="2194560" cy="320040"/>
          </a:xfrm>
          <a:prstGeom prst="rect">
            <a:avLst/>
          </a:prstGeom>
          <a:noFill/>
        </p:spPr>
        <p:txBody>
          <a:bodyPr wrap="square" lIns="0" rIns="0" tIns="0" bIns="0">
            <a:spAutoFit/>
          </a:bodyPr>
          <a:lstStyle/>
          <a:p>
            <a:r>
              <a:rPr sz="1550" b="1" i="0">
                <a:solidFill>
                  <a:srgbClr val="22252B"/>
                </a:solidFill>
                <a:latin typeface="Cambria"/>
              </a:rPr>
              <a:t>Portal</a:t>
            </a:r>
          </a:p>
        </p:txBody>
      </p:sp>
      <p:sp>
        <p:nvSpPr>
          <p:cNvPr id="22" name="TextBox 21"/>
          <p:cNvSpPr txBox="1"/>
          <p:nvPr/>
        </p:nvSpPr>
        <p:spPr>
          <a:xfrm>
            <a:off x="4599432" y="3547872"/>
            <a:ext cx="2926080" cy="256032"/>
          </a:xfrm>
          <a:prstGeom prst="rect">
            <a:avLst/>
          </a:prstGeom>
          <a:noFill/>
        </p:spPr>
        <p:txBody>
          <a:bodyPr wrap="square" lIns="0" rIns="0" tIns="0" bIns="0">
            <a:spAutoFit/>
          </a:bodyPr>
          <a:lstStyle/>
          <a:p>
            <a:r>
              <a:rPr sz="1050" b="1" i="0">
                <a:solidFill>
                  <a:srgbClr val="BF5B26"/>
                </a:solidFill>
                <a:latin typeface="Calibri"/>
              </a:rPr>
              <a:t>JSON · JSONL</a:t>
            </a:r>
          </a:p>
        </p:txBody>
      </p:sp>
      <p:sp>
        <p:nvSpPr>
          <p:cNvPr id="23" name="TextBox 22"/>
          <p:cNvSpPr txBox="1"/>
          <p:nvPr/>
        </p:nvSpPr>
        <p:spPr>
          <a:xfrm>
            <a:off x="4599432" y="3803904"/>
            <a:ext cx="2926080" cy="502920"/>
          </a:xfrm>
          <a:prstGeom prst="rect">
            <a:avLst/>
          </a:prstGeom>
          <a:noFill/>
        </p:spPr>
        <p:txBody>
          <a:bodyPr wrap="square" lIns="0" rIns="0" tIns="0" bIns="0">
            <a:spAutoFit/>
          </a:bodyPr>
          <a:lstStyle/>
          <a:p>
            <a:pPr>
              <a:lnSpc>
                <a:spcPts val="1400"/>
              </a:lnSpc>
            </a:pPr>
            <a:r>
              <a:rPr sz="1100" b="0" i="0">
                <a:solidFill>
                  <a:srgbClr val="8A8F98"/>
                </a:solidFill>
                <a:latin typeface="Calibri"/>
              </a:rPr>
              <a:t>Garanti talebi,</a:t>
            </a:r>
          </a:p>
          <a:p>
            <a:pPr>
              <a:lnSpc>
                <a:spcPts val="1400"/>
              </a:lnSpc>
            </a:pPr>
            <a:r>
              <a:rPr sz="1100" b="0" i="0">
                <a:solidFill>
                  <a:srgbClr val="8A8F98"/>
                </a:solidFill>
                <a:latin typeface="Calibri"/>
              </a:rPr>
              <a:t>geri çağırma kampanyası</a:t>
            </a:r>
          </a:p>
        </p:txBody>
      </p:sp>
      <p:sp>
        <p:nvSpPr>
          <p:cNvPr id="24" name="Rounded Rectangle 23"/>
          <p:cNvSpPr/>
          <p:nvPr/>
        </p:nvSpPr>
        <p:spPr>
          <a:xfrm>
            <a:off x="8046719" y="3054096"/>
            <a:ext cx="3429000" cy="1325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1" y="3218688"/>
            <a:ext cx="2194560" cy="320040"/>
          </a:xfrm>
          <a:prstGeom prst="rect">
            <a:avLst/>
          </a:prstGeom>
          <a:noFill/>
        </p:spPr>
        <p:txBody>
          <a:bodyPr wrap="square" lIns="0" rIns="0" tIns="0" bIns="0">
            <a:spAutoFit/>
          </a:bodyPr>
          <a:lstStyle/>
          <a:p>
            <a:r>
              <a:rPr sz="1550" b="1" i="0">
                <a:solidFill>
                  <a:srgbClr val="22252B"/>
                </a:solidFill>
                <a:latin typeface="Cambria"/>
              </a:rPr>
              <a:t>Finance</a:t>
            </a:r>
          </a:p>
        </p:txBody>
      </p:sp>
      <p:sp>
        <p:nvSpPr>
          <p:cNvPr id="26" name="TextBox 25"/>
          <p:cNvSpPr txBox="1"/>
          <p:nvPr/>
        </p:nvSpPr>
        <p:spPr>
          <a:xfrm>
            <a:off x="8302751" y="3547872"/>
            <a:ext cx="2926080" cy="256032"/>
          </a:xfrm>
          <a:prstGeom prst="rect">
            <a:avLst/>
          </a:prstGeom>
          <a:noFill/>
        </p:spPr>
        <p:txBody>
          <a:bodyPr wrap="square" lIns="0" rIns="0" tIns="0" bIns="0">
            <a:spAutoFit/>
          </a:bodyPr>
          <a:lstStyle/>
          <a:p>
            <a:r>
              <a:rPr sz="1050" b="1" i="0">
                <a:solidFill>
                  <a:srgbClr val="BF5B26"/>
                </a:solidFill>
                <a:latin typeface="Calibri"/>
              </a:rPr>
              <a:t>XLSX</a:t>
            </a:r>
          </a:p>
        </p:txBody>
      </p:sp>
      <p:sp>
        <p:nvSpPr>
          <p:cNvPr id="27" name="TextBox 26"/>
          <p:cNvSpPr txBox="1"/>
          <p:nvPr/>
        </p:nvSpPr>
        <p:spPr>
          <a:xfrm>
            <a:off x="8302751" y="3803904"/>
            <a:ext cx="2926080" cy="502920"/>
          </a:xfrm>
          <a:prstGeom prst="rect">
            <a:avLst/>
          </a:prstGeom>
          <a:noFill/>
        </p:spPr>
        <p:txBody>
          <a:bodyPr wrap="square" lIns="0" rIns="0" tIns="0" bIns="0">
            <a:spAutoFit/>
          </a:bodyPr>
          <a:lstStyle/>
          <a:p>
            <a:pPr>
              <a:lnSpc>
                <a:spcPts val="1400"/>
              </a:lnSpc>
            </a:pPr>
            <a:r>
              <a:rPr sz="1100" b="0" i="0">
                <a:solidFill>
                  <a:srgbClr val="8A8F98"/>
                </a:solidFill>
                <a:latin typeface="Calibri"/>
              </a:rPr>
              <a:t>Döviz kuru, bütçe</a:t>
            </a:r>
          </a:p>
        </p:txBody>
      </p:sp>
      <p:sp>
        <p:nvSpPr>
          <p:cNvPr id="28" name="TextBox 27"/>
          <p:cNvSpPr txBox="1"/>
          <p:nvPr/>
        </p:nvSpPr>
        <p:spPr>
          <a:xfrm>
            <a:off x="640080" y="4709160"/>
            <a:ext cx="10881360" cy="1097280"/>
          </a:xfrm>
          <a:prstGeom prst="rect">
            <a:avLst/>
          </a:prstGeom>
          <a:noFill/>
        </p:spPr>
        <p:txBody>
          <a:bodyPr wrap="square" lIns="0" rIns="0" tIns="0" bIns="0">
            <a:spAutoFit/>
          </a:bodyPr>
          <a:lstStyle/>
          <a:p>
            <a:pPr>
              <a:lnSpc>
                <a:spcPts val="1900"/>
              </a:lnSpc>
            </a:pPr>
            <a:r>
              <a:rPr sz="1250" b="0" i="0">
                <a:solidFill>
                  <a:srgbClr val="444B57"/>
                </a:solidFill>
                <a:latin typeface="Calibri"/>
              </a:rPr>
              <a:t>17 varlık · 2.326 dosya · ~150 MB. Python ile üretildi: aynı seed byte düzeyinde aynı veriyi veriyor ve bu iddia test ediliyor, varsayılmıyor.</a:t>
            </a:r>
          </a:p>
          <a:p>
            <a:pPr>
              <a:lnSpc>
                <a:spcPts val="1900"/>
              </a:lnSpc>
            </a:pPr>
            <a:r>
              <a:rPr sz="1250" b="0" i="0">
                <a:solidFill>
                  <a:srgbClr val="444B57"/>
                </a:solidFill>
                <a:latin typeface="Calibri"/>
              </a:rPr>
              <a:t/>
            </a:r>
          </a:p>
          <a:p>
            <a:pPr>
              <a:lnSpc>
                <a:spcPts val="1900"/>
              </a:lnSpc>
            </a:pPr>
            <a:r>
              <a:rPr sz="1250" b="0" i="0">
                <a:solidFill>
                  <a:srgbClr val="444B57"/>
                </a:solidFill>
                <a:latin typeface="Calibri"/>
              </a:rPr>
              <a:t>Kirli veri — geçersiz VIN, geri giden kilometre, öksüz anahtar, karışık tarih formatı — bilerek ve oranı ayarlanabilir şekilde enjekte ediliyor. Enjeksiyondan önceki çıktı kanıtlanabilir biçimde temiz.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KATMAN 1</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Bronze — metadata ile yönetilen yükleme</a:t>
            </a:r>
          </a:p>
        </p:txBody>
      </p:sp>
      <p:sp>
        <p:nvSpPr>
          <p:cNvPr id="4" name="TextBox 3"/>
          <p:cNvSpPr txBox="1"/>
          <p:nvPr/>
        </p:nvSpPr>
        <p:spPr>
          <a:xfrm>
            <a:off x="640080" y="1572768"/>
            <a:ext cx="5669280" cy="914400"/>
          </a:xfrm>
          <a:prstGeom prst="rect">
            <a:avLst/>
          </a:prstGeom>
          <a:noFill/>
        </p:spPr>
        <p:txBody>
          <a:bodyPr wrap="square" lIns="0" rIns="0" tIns="0" bIns="0">
            <a:spAutoFit/>
          </a:bodyPr>
          <a:lstStyle/>
          <a:p>
            <a:pPr>
              <a:lnSpc>
                <a:spcPts val="2000"/>
              </a:lnSpc>
            </a:pPr>
            <a:r>
              <a:rPr sz="1300" b="0" i="0">
                <a:solidFill>
                  <a:srgbClr val="444B57"/>
                </a:solidFill>
                <a:latin typeface="Calibri"/>
              </a:rPr>
              <a:t>Pipeline hiçbir kaynağın adını bilmiyor. ctl.source_config'i okuyup satır satır dönüyor: dosya deseni, format, kodlama, yükleme tipi ve watermark sütunu — hepsi veri, hiçbiri kod.</a:t>
            </a:r>
          </a:p>
        </p:txBody>
      </p:sp>
      <p:sp>
        <p:nvSpPr>
          <p:cNvPr id="5" name="TextBox 4"/>
          <p:cNvSpPr txBox="1"/>
          <p:nvPr/>
        </p:nvSpPr>
        <p:spPr>
          <a:xfrm>
            <a:off x="640080" y="2697480"/>
            <a:ext cx="1874519" cy="548640"/>
          </a:xfrm>
          <a:prstGeom prst="rect">
            <a:avLst/>
          </a:prstGeom>
          <a:noFill/>
        </p:spPr>
        <p:txBody>
          <a:bodyPr wrap="square" lIns="0" rIns="0" tIns="0" bIns="0">
            <a:spAutoFit/>
          </a:bodyPr>
          <a:lstStyle/>
          <a:p>
            <a:r>
              <a:rPr sz="3200" b="1" i="0">
                <a:solidFill>
                  <a:srgbClr val="22252B"/>
                </a:solidFill>
                <a:latin typeface="Cambria"/>
              </a:rPr>
              <a:t>17</a:t>
            </a:r>
          </a:p>
        </p:txBody>
      </p:sp>
      <p:sp>
        <p:nvSpPr>
          <p:cNvPr id="6" name="TextBox 5"/>
          <p:cNvSpPr txBox="1"/>
          <p:nvPr/>
        </p:nvSpPr>
        <p:spPr>
          <a:xfrm>
            <a:off x="640080" y="3246120"/>
            <a:ext cx="1874519"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kaynak, sırayla</a:t>
            </a:r>
          </a:p>
        </p:txBody>
      </p:sp>
      <p:sp>
        <p:nvSpPr>
          <p:cNvPr id="7" name="TextBox 6"/>
          <p:cNvSpPr txBox="1"/>
          <p:nvPr/>
        </p:nvSpPr>
        <p:spPr>
          <a:xfrm>
            <a:off x="2560320" y="2697480"/>
            <a:ext cx="1874519" cy="548640"/>
          </a:xfrm>
          <a:prstGeom prst="rect">
            <a:avLst/>
          </a:prstGeom>
          <a:noFill/>
        </p:spPr>
        <p:txBody>
          <a:bodyPr wrap="square" lIns="0" rIns="0" tIns="0" bIns="0">
            <a:spAutoFit/>
          </a:bodyPr>
          <a:lstStyle/>
          <a:p>
            <a:r>
              <a:rPr sz="3200" b="1" i="0">
                <a:solidFill>
                  <a:srgbClr val="BF5B26"/>
                </a:solidFill>
                <a:latin typeface="Cambria"/>
              </a:rPr>
              <a:t>1.066.933</a:t>
            </a:r>
          </a:p>
        </p:txBody>
      </p:sp>
      <p:sp>
        <p:nvSpPr>
          <p:cNvPr id="8" name="TextBox 7"/>
          <p:cNvSpPr txBox="1"/>
          <p:nvPr/>
        </p:nvSpPr>
        <p:spPr>
          <a:xfrm>
            <a:off x="2560320" y="3246120"/>
            <a:ext cx="1874519"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Bronze satırı</a:t>
            </a:r>
          </a:p>
        </p:txBody>
      </p:sp>
      <p:sp>
        <p:nvSpPr>
          <p:cNvPr id="9" name="TextBox 8"/>
          <p:cNvSpPr txBox="1"/>
          <p:nvPr/>
        </p:nvSpPr>
        <p:spPr>
          <a:xfrm>
            <a:off x="4480560" y="2697480"/>
            <a:ext cx="1874519" cy="548640"/>
          </a:xfrm>
          <a:prstGeom prst="rect">
            <a:avLst/>
          </a:prstGeom>
          <a:noFill/>
        </p:spPr>
        <p:txBody>
          <a:bodyPr wrap="square" lIns="0" rIns="0" tIns="0" bIns="0">
            <a:spAutoFit/>
          </a:bodyPr>
          <a:lstStyle/>
          <a:p>
            <a:r>
              <a:rPr sz="3200" b="1" i="0">
                <a:solidFill>
                  <a:srgbClr val="22252B"/>
                </a:solidFill>
                <a:latin typeface="Cambria"/>
              </a:rPr>
              <a:t>35 dk</a:t>
            </a:r>
          </a:p>
        </p:txBody>
      </p:sp>
      <p:sp>
        <p:nvSpPr>
          <p:cNvPr id="10" name="TextBox 9"/>
          <p:cNvSpPr txBox="1"/>
          <p:nvPr/>
        </p:nvSpPr>
        <p:spPr>
          <a:xfrm>
            <a:off x="4480560" y="3246120"/>
            <a:ext cx="1874519"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tam çalışma</a:t>
            </a:r>
          </a:p>
        </p:txBody>
      </p:sp>
      <p:sp>
        <p:nvSpPr>
          <p:cNvPr id="11" name="TextBox 10"/>
          <p:cNvSpPr txBox="1"/>
          <p:nvPr/>
        </p:nvSpPr>
        <p:spPr>
          <a:xfrm>
            <a:off x="640080" y="3977639"/>
            <a:ext cx="5669280" cy="1828800"/>
          </a:xfrm>
          <a:prstGeom prst="rect">
            <a:avLst/>
          </a:prstGeom>
          <a:noFill/>
        </p:spPr>
        <p:txBody>
          <a:bodyPr wrap="square" lIns="0" rIns="0" tIns="0" bIns="0">
            <a:spAutoFit/>
          </a:bodyPr>
          <a:lstStyle/>
          <a:p>
            <a:pPr>
              <a:lnSpc>
                <a:spcPts val="1800"/>
              </a:lnSpc>
            </a:pPr>
            <a:r>
              <a:rPr sz="1200" b="0" i="0">
                <a:solidFill>
                  <a:srgbClr val="8A8F98"/>
                </a:solidFill>
                <a:latin typeface="Calibri"/>
              </a:rPr>
              <a:t>Sıralı çalışıyor, paralel değil: load_order ana veriyi ona referans veren hareketlerin önüne koyuyor, paralellik bu sırayı yok eder.</a:t>
            </a:r>
          </a:p>
          <a:p>
            <a:pPr>
              <a:lnSpc>
                <a:spcPts val="1800"/>
              </a:lnSpc>
            </a:pPr>
            <a:r>
              <a:rPr sz="1200" b="0" i="0">
                <a:solidFill>
                  <a:srgbClr val="8A8F98"/>
                </a:solidFill>
                <a:latin typeface="Calibri"/>
              </a:rPr>
              <a:t/>
            </a:r>
          </a:p>
          <a:p>
            <a:pPr>
              <a:lnSpc>
                <a:spcPts val="1800"/>
              </a:lnSpc>
            </a:pPr>
            <a:r>
              <a:rPr sz="1200" b="0" i="0">
                <a:solidFill>
                  <a:srgbClr val="8A8F98"/>
                </a:solidFill>
                <a:latin typeface="Calibri"/>
              </a:rPr>
              <a:t>Watermark en sona ve yalnızca başarı hâlinde yazılıyor. Ortada çöken bir çalıştırma eski değeri bırakır, sonraki çalıştırma aynı pencereyi yeniden okur — Bronze kendi batch'ini silip yeniden yazdığı için tekrar okumak zararsız.</a:t>
            </a:r>
          </a:p>
        </p:txBody>
      </p:sp>
      <p:pic>
        <p:nvPicPr>
          <p:cNvPr id="12" name="Picture 11" descr="fabric_pipeline.png"/>
          <p:cNvPicPr>
            <a:picLocks noChangeAspect="1"/>
          </p:cNvPicPr>
          <p:nvPr/>
        </p:nvPicPr>
        <p:blipFill>
          <a:blip r:embed="rId2"/>
          <a:stretch>
            <a:fillRect/>
          </a:stretch>
        </p:blipFill>
        <p:spPr>
          <a:xfrm>
            <a:off x="6675120" y="2369631"/>
            <a:ext cx="4892040" cy="2201033"/>
          </a:xfrm>
          <a:prstGeom prst="rect">
            <a:avLst/>
          </a:prstGeom>
        </p:spPr>
      </p:pic>
      <p:sp>
        <p:nvSpPr>
          <p:cNvPr id="13" name="TextBox 12"/>
          <p:cNvSpPr txBox="1"/>
          <p:nvPr/>
        </p:nvSpPr>
        <p:spPr>
          <a:xfrm>
            <a:off x="6675120" y="5440680"/>
            <a:ext cx="4892040" cy="274320"/>
          </a:xfrm>
          <a:prstGeom prst="rect">
            <a:avLst/>
          </a:prstGeom>
          <a:noFill/>
        </p:spPr>
        <p:txBody>
          <a:bodyPr wrap="square" lIns="0" rIns="0" tIns="0" bIns="0">
            <a:spAutoFit/>
          </a:bodyPr>
          <a:lstStyle/>
          <a:p>
            <a:r>
              <a:rPr sz="1000" b="0" i="1">
                <a:solidFill>
                  <a:srgbClr val="8A8F98"/>
                </a:solidFill>
                <a:latin typeface="Calibri"/>
              </a:rPr>
              <a:t>Data Factory pipeline — 17 kaynak, tek çalıştırmada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KATMAN 2</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Silver — temizlik, MDM, veri kalitesi</a:t>
            </a:r>
          </a:p>
        </p:txBody>
      </p:sp>
      <p:sp>
        <p:nvSpPr>
          <p:cNvPr id="4" name="Rounded Rectangle 3"/>
          <p:cNvSpPr/>
          <p:nvPr/>
        </p:nvSpPr>
        <p:spPr>
          <a:xfrm>
            <a:off x="640080" y="1572768"/>
            <a:ext cx="3429000" cy="22402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1801368"/>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075688"/>
            <a:ext cx="2926080" cy="320040"/>
          </a:xfrm>
          <a:prstGeom prst="rect">
            <a:avLst/>
          </a:prstGeom>
          <a:noFill/>
        </p:spPr>
        <p:txBody>
          <a:bodyPr wrap="square" lIns="0" rIns="0" tIns="0" bIns="0">
            <a:spAutoFit/>
          </a:bodyPr>
          <a:lstStyle/>
          <a:p>
            <a:r>
              <a:rPr sz="1450" b="1" i="0">
                <a:solidFill>
                  <a:srgbClr val="22252B"/>
                </a:solidFill>
                <a:latin typeface="Cambria"/>
              </a:rPr>
              <a:t>Temizleme</a:t>
            </a:r>
          </a:p>
        </p:txBody>
      </p:sp>
      <p:sp>
        <p:nvSpPr>
          <p:cNvPr id="7" name="TextBox 6"/>
          <p:cNvSpPr txBox="1"/>
          <p:nvPr/>
        </p:nvSpPr>
        <p:spPr>
          <a:xfrm>
            <a:off x="896112" y="2423160"/>
            <a:ext cx="2926080" cy="1280160"/>
          </a:xfrm>
          <a:prstGeom prst="rect">
            <a:avLst/>
          </a:prstGeom>
          <a:noFill/>
        </p:spPr>
        <p:txBody>
          <a:bodyPr wrap="square" lIns="0" rIns="0" tIns="0" bIns="0">
            <a:spAutoFit/>
          </a:bodyPr>
          <a:lstStyle/>
          <a:p>
            <a:pPr>
              <a:lnSpc>
                <a:spcPts val="1500"/>
              </a:lnSpc>
            </a:pPr>
            <a:r>
              <a:rPr sz="1100" b="0" i="0">
                <a:solidFill>
                  <a:srgbClr val="8A8F98"/>
                </a:solidFill>
                <a:latin typeface="Calibri"/>
              </a:rPr>
              <a:t>Tip dönüşümü, Türkçe ondalık ayracı, karışık tarih formatları, TRY normalizasyonu (hafta sonu için forward fill), PII maskeleme ve hash'leme.</a:t>
            </a:r>
          </a:p>
        </p:txBody>
      </p:sp>
      <p:sp>
        <p:nvSpPr>
          <p:cNvPr id="8" name="Rounded Rectangle 7"/>
          <p:cNvSpPr/>
          <p:nvPr/>
        </p:nvSpPr>
        <p:spPr>
          <a:xfrm>
            <a:off x="4343400" y="1572768"/>
            <a:ext cx="3429000" cy="22402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9432" y="1801368"/>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2075688"/>
            <a:ext cx="2926080" cy="320040"/>
          </a:xfrm>
          <a:prstGeom prst="rect">
            <a:avLst/>
          </a:prstGeom>
          <a:noFill/>
        </p:spPr>
        <p:txBody>
          <a:bodyPr wrap="square" lIns="0" rIns="0" tIns="0" bIns="0">
            <a:spAutoFit/>
          </a:bodyPr>
          <a:lstStyle/>
          <a:p>
            <a:r>
              <a:rPr sz="1450" b="1" i="0">
                <a:solidFill>
                  <a:srgbClr val="22252B"/>
                </a:solidFill>
                <a:latin typeface="Cambria"/>
              </a:rPr>
              <a:t>MDM — altın kayıt</a:t>
            </a:r>
          </a:p>
        </p:txBody>
      </p:sp>
      <p:sp>
        <p:nvSpPr>
          <p:cNvPr id="11" name="TextBox 10"/>
          <p:cNvSpPr txBox="1"/>
          <p:nvPr/>
        </p:nvSpPr>
        <p:spPr>
          <a:xfrm>
            <a:off x="4599432" y="2423160"/>
            <a:ext cx="2926080" cy="1280160"/>
          </a:xfrm>
          <a:prstGeom prst="rect">
            <a:avLst/>
          </a:prstGeom>
          <a:noFill/>
        </p:spPr>
        <p:txBody>
          <a:bodyPr wrap="square" lIns="0" rIns="0" tIns="0" bIns="0">
            <a:spAutoFit/>
          </a:bodyPr>
          <a:lstStyle/>
          <a:p>
            <a:pPr>
              <a:lnSpc>
                <a:spcPts val="1500"/>
              </a:lnSpc>
            </a:pPr>
            <a:r>
              <a:rPr sz="1100" b="0" i="0">
                <a:solidFill>
                  <a:srgbClr val="8A8F98"/>
                </a:solidFill>
                <a:latin typeface="Calibri"/>
              </a:rPr>
              <a:t>DMS ve CRM'deki aynı kişi birleştiriliyor: 4 blocking key, 41.973 aday çift, ağırlıklı benzerlik skoru, karşılıklı en iyi eşleşme.</a:t>
            </a:r>
          </a:p>
        </p:txBody>
      </p:sp>
      <p:sp>
        <p:nvSpPr>
          <p:cNvPr id="12" name="Rounded Rectangle 11"/>
          <p:cNvSpPr/>
          <p:nvPr/>
        </p:nvSpPr>
        <p:spPr>
          <a:xfrm>
            <a:off x="8046719" y="1572768"/>
            <a:ext cx="3429000" cy="22402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02751" y="1801368"/>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1" y="2075688"/>
            <a:ext cx="2926080" cy="320040"/>
          </a:xfrm>
          <a:prstGeom prst="rect">
            <a:avLst/>
          </a:prstGeom>
          <a:noFill/>
        </p:spPr>
        <p:txBody>
          <a:bodyPr wrap="square" lIns="0" rIns="0" tIns="0" bIns="0">
            <a:spAutoFit/>
          </a:bodyPr>
          <a:lstStyle/>
          <a:p>
            <a:r>
              <a:rPr sz="1450" b="1" i="0">
                <a:solidFill>
                  <a:srgbClr val="22252B"/>
                </a:solidFill>
                <a:latin typeface="Cambria"/>
              </a:rPr>
              <a:t>Veri kalitesi</a:t>
            </a:r>
          </a:p>
        </p:txBody>
      </p:sp>
      <p:sp>
        <p:nvSpPr>
          <p:cNvPr id="15" name="TextBox 14"/>
          <p:cNvSpPr txBox="1"/>
          <p:nvPr/>
        </p:nvSpPr>
        <p:spPr>
          <a:xfrm>
            <a:off x="8302751" y="2423160"/>
            <a:ext cx="2926080" cy="1280160"/>
          </a:xfrm>
          <a:prstGeom prst="rect">
            <a:avLst/>
          </a:prstGeom>
          <a:noFill/>
        </p:spPr>
        <p:txBody>
          <a:bodyPr wrap="square" lIns="0" rIns="0" tIns="0" bIns="0">
            <a:spAutoFit/>
          </a:bodyPr>
          <a:lstStyle/>
          <a:p>
            <a:pPr>
              <a:lnSpc>
                <a:spcPts val="1500"/>
              </a:lnSpc>
            </a:pPr>
            <a:r>
              <a:rPr sz="1100" b="0" i="0">
                <a:solidFill>
                  <a:srgbClr val="8A8F98"/>
                </a:solidFill>
                <a:latin typeface="Calibri"/>
              </a:rPr>
              <a:t>25 kural ctl.dq_rule'da veri olarak duruyor, tek bir çalıştırıcı hepsini işletiyor. Kritik ihlaller karantinaya alınıyor, Silver temiz kalıyor.</a:t>
            </a:r>
          </a:p>
        </p:txBody>
      </p:sp>
      <p:sp>
        <p:nvSpPr>
          <p:cNvPr id="16" name="TextBox 15"/>
          <p:cNvSpPr txBox="1"/>
          <p:nvPr/>
        </p:nvSpPr>
        <p:spPr>
          <a:xfrm>
            <a:off x="640080" y="4160520"/>
            <a:ext cx="2606040" cy="548640"/>
          </a:xfrm>
          <a:prstGeom prst="rect">
            <a:avLst/>
          </a:prstGeom>
          <a:noFill/>
        </p:spPr>
        <p:txBody>
          <a:bodyPr wrap="square" lIns="0" rIns="0" tIns="0" bIns="0">
            <a:spAutoFit/>
          </a:bodyPr>
          <a:lstStyle/>
          <a:p>
            <a:r>
              <a:rPr sz="3200" b="1" i="0">
                <a:solidFill>
                  <a:srgbClr val="22252B"/>
                </a:solidFill>
                <a:latin typeface="Cambria"/>
              </a:rPr>
              <a:t>26.235</a:t>
            </a:r>
          </a:p>
        </p:txBody>
      </p:sp>
      <p:sp>
        <p:nvSpPr>
          <p:cNvPr id="17" name="TextBox 16"/>
          <p:cNvSpPr txBox="1"/>
          <p:nvPr/>
        </p:nvSpPr>
        <p:spPr>
          <a:xfrm>
            <a:off x="640080" y="4709159"/>
            <a:ext cx="2606040"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altın müşteri kaydı</a:t>
            </a:r>
          </a:p>
        </p:txBody>
      </p:sp>
      <p:sp>
        <p:nvSpPr>
          <p:cNvPr id="18" name="TextBox 17"/>
          <p:cNvSpPr txBox="1"/>
          <p:nvPr/>
        </p:nvSpPr>
        <p:spPr>
          <a:xfrm>
            <a:off x="3337560" y="4160520"/>
            <a:ext cx="2606040" cy="548640"/>
          </a:xfrm>
          <a:prstGeom prst="rect">
            <a:avLst/>
          </a:prstGeom>
          <a:noFill/>
        </p:spPr>
        <p:txBody>
          <a:bodyPr wrap="square" lIns="0" rIns="0" tIns="0" bIns="0">
            <a:spAutoFit/>
          </a:bodyPr>
          <a:lstStyle/>
          <a:p>
            <a:r>
              <a:rPr sz="3200" b="1" i="0">
                <a:solidFill>
                  <a:srgbClr val="BF5B26"/>
                </a:solidFill>
                <a:latin typeface="Cambria"/>
              </a:rPr>
              <a:t>14.410</a:t>
            </a:r>
          </a:p>
        </p:txBody>
      </p:sp>
      <p:sp>
        <p:nvSpPr>
          <p:cNvPr id="19" name="TextBox 18"/>
          <p:cNvSpPr txBox="1"/>
          <p:nvPr/>
        </p:nvSpPr>
        <p:spPr>
          <a:xfrm>
            <a:off x="3337560" y="4709159"/>
            <a:ext cx="2606040"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her iki sistemde eşleşen</a:t>
            </a:r>
          </a:p>
        </p:txBody>
      </p:sp>
      <p:sp>
        <p:nvSpPr>
          <p:cNvPr id="20" name="TextBox 19"/>
          <p:cNvSpPr txBox="1"/>
          <p:nvPr/>
        </p:nvSpPr>
        <p:spPr>
          <a:xfrm>
            <a:off x="6035040" y="4160520"/>
            <a:ext cx="2606040" cy="548640"/>
          </a:xfrm>
          <a:prstGeom prst="rect">
            <a:avLst/>
          </a:prstGeom>
          <a:noFill/>
        </p:spPr>
        <p:txBody>
          <a:bodyPr wrap="square" lIns="0" rIns="0" tIns="0" bIns="0">
            <a:spAutoFit/>
          </a:bodyPr>
          <a:lstStyle/>
          <a:p>
            <a:r>
              <a:rPr sz="3200" b="1" i="0">
                <a:solidFill>
                  <a:srgbClr val="22252B"/>
                </a:solidFill>
                <a:latin typeface="Cambria"/>
              </a:rPr>
              <a:t>2.299</a:t>
            </a:r>
          </a:p>
        </p:txBody>
      </p:sp>
      <p:sp>
        <p:nvSpPr>
          <p:cNvPr id="21" name="TextBox 20"/>
          <p:cNvSpPr txBox="1"/>
          <p:nvPr/>
        </p:nvSpPr>
        <p:spPr>
          <a:xfrm>
            <a:off x="6035040" y="4709159"/>
            <a:ext cx="2606040"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kritik DQ ihlali</a:t>
            </a:r>
          </a:p>
        </p:txBody>
      </p:sp>
      <p:sp>
        <p:nvSpPr>
          <p:cNvPr id="22" name="TextBox 21"/>
          <p:cNvSpPr txBox="1"/>
          <p:nvPr/>
        </p:nvSpPr>
        <p:spPr>
          <a:xfrm>
            <a:off x="8732520" y="4160520"/>
            <a:ext cx="2606040" cy="548640"/>
          </a:xfrm>
          <a:prstGeom prst="rect">
            <a:avLst/>
          </a:prstGeom>
          <a:noFill/>
        </p:spPr>
        <p:txBody>
          <a:bodyPr wrap="square" lIns="0" rIns="0" tIns="0" bIns="0">
            <a:spAutoFit/>
          </a:bodyPr>
          <a:lstStyle/>
          <a:p>
            <a:r>
              <a:rPr sz="3200" b="1" i="0">
                <a:solidFill>
                  <a:srgbClr val="22252B"/>
                </a:solidFill>
                <a:latin typeface="Cambria"/>
              </a:rPr>
              <a:t>2.288</a:t>
            </a:r>
          </a:p>
        </p:txBody>
      </p:sp>
      <p:sp>
        <p:nvSpPr>
          <p:cNvPr id="23" name="TextBox 22"/>
          <p:cNvSpPr txBox="1"/>
          <p:nvPr/>
        </p:nvSpPr>
        <p:spPr>
          <a:xfrm>
            <a:off x="8732520" y="4709159"/>
            <a:ext cx="2606040" cy="411480"/>
          </a:xfrm>
          <a:prstGeom prst="rect">
            <a:avLst/>
          </a:prstGeom>
          <a:noFill/>
        </p:spPr>
        <p:txBody>
          <a:bodyPr wrap="square" lIns="0" rIns="0" tIns="0" bIns="0">
            <a:spAutoFit/>
          </a:bodyPr>
          <a:lstStyle/>
          <a:p>
            <a:pPr>
              <a:lnSpc>
                <a:spcPts val="1500"/>
              </a:lnSpc>
            </a:pPr>
            <a:r>
              <a:rPr sz="1150" b="0" i="0">
                <a:solidFill>
                  <a:srgbClr val="8A8F98"/>
                </a:solidFill>
                <a:latin typeface="Calibri"/>
              </a:rPr>
              <a:t>karantinaya alınan satır</a:t>
            </a:r>
          </a:p>
        </p:txBody>
      </p:sp>
      <p:sp>
        <p:nvSpPr>
          <p:cNvPr id="24" name="TextBox 23"/>
          <p:cNvSpPr txBox="1"/>
          <p:nvPr/>
        </p:nvSpPr>
        <p:spPr>
          <a:xfrm>
            <a:off x="640080" y="5532120"/>
            <a:ext cx="10881360" cy="457200"/>
          </a:xfrm>
          <a:prstGeom prst="rect">
            <a:avLst/>
          </a:prstGeom>
          <a:noFill/>
        </p:spPr>
        <p:txBody>
          <a:bodyPr wrap="square" lIns="0" rIns="0" tIns="0" bIns="0">
            <a:spAutoFit/>
          </a:bodyPr>
          <a:lstStyle/>
          <a:p>
            <a:r>
              <a:rPr sz="1200" b="0" i="1">
                <a:solidFill>
                  <a:srgbClr val="8A8F98"/>
                </a:solidFill>
                <a:latin typeface="Calibri"/>
              </a:rPr>
              <a:t>İkinci geçişte eklenen ve güncellenen satır sayısı sıfır — yükleme idempotent, ve bu iddia da varsayılmıyor, ölçülüyor.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KATMAN 3</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Gold — yıldız şema</a:t>
            </a:r>
          </a:p>
        </p:txBody>
      </p:sp>
      <p:sp>
        <p:nvSpPr>
          <p:cNvPr id="4" name="TextBox 3"/>
          <p:cNvSpPr txBox="1"/>
          <p:nvPr/>
        </p:nvSpPr>
        <p:spPr>
          <a:xfrm>
            <a:off x="640080" y="1572768"/>
            <a:ext cx="2377440" cy="320040"/>
          </a:xfrm>
          <a:prstGeom prst="rect">
            <a:avLst/>
          </a:prstGeom>
          <a:noFill/>
        </p:spPr>
        <p:txBody>
          <a:bodyPr wrap="square" lIns="0" rIns="0" tIns="0" bIns="0">
            <a:spAutoFit/>
          </a:bodyPr>
          <a:lstStyle/>
          <a:p>
            <a:r>
              <a:rPr sz="1450" b="1" i="0">
                <a:solidFill>
                  <a:srgbClr val="BF5B26"/>
                </a:solidFill>
                <a:latin typeface="Cambria"/>
              </a:rPr>
              <a:t>Surrogate key</a:t>
            </a:r>
          </a:p>
        </p:txBody>
      </p:sp>
      <p:sp>
        <p:nvSpPr>
          <p:cNvPr id="5" name="TextBox 4"/>
          <p:cNvSpPr txBox="1"/>
          <p:nvPr/>
        </p:nvSpPr>
        <p:spPr>
          <a:xfrm>
            <a:off x="3108960" y="1572768"/>
            <a:ext cx="4114800" cy="1097280"/>
          </a:xfrm>
          <a:prstGeom prst="rect">
            <a:avLst/>
          </a:prstGeom>
          <a:noFill/>
        </p:spPr>
        <p:txBody>
          <a:bodyPr wrap="square" lIns="0" rIns="0" tIns="0" bIns="0">
            <a:spAutoFit/>
          </a:bodyPr>
          <a:lstStyle/>
          <a:p>
            <a:pPr>
              <a:lnSpc>
                <a:spcPts val="1600"/>
              </a:lnSpc>
            </a:pPr>
            <a:r>
              <a:rPr sz="1150" b="0" i="0">
                <a:solidFill>
                  <a:srgbClr val="444B57"/>
                </a:solidFill>
                <a:latin typeface="Calibri"/>
              </a:rPr>
              <a:t>Her boyutta, iş anahtarından bağımsız, anlamsız bir tamsayı anahtar. Fabric Warehouse'ta IDENTITY yalnızca BIGINT ve varsayılan adımla çalıştığı için anahtarlar ROW_NUMBER + MAX kalıbıyla üretiliyor.</a:t>
            </a:r>
          </a:p>
        </p:txBody>
      </p:sp>
      <p:sp>
        <p:nvSpPr>
          <p:cNvPr id="6" name="TextBox 5"/>
          <p:cNvSpPr txBox="1"/>
          <p:nvPr/>
        </p:nvSpPr>
        <p:spPr>
          <a:xfrm>
            <a:off x="640080" y="2761488"/>
            <a:ext cx="2377440" cy="320040"/>
          </a:xfrm>
          <a:prstGeom prst="rect">
            <a:avLst/>
          </a:prstGeom>
          <a:noFill/>
        </p:spPr>
        <p:txBody>
          <a:bodyPr wrap="square" lIns="0" rIns="0" tIns="0" bIns="0">
            <a:spAutoFit/>
          </a:bodyPr>
          <a:lstStyle/>
          <a:p>
            <a:r>
              <a:rPr sz="1450" b="1" i="0">
                <a:solidFill>
                  <a:srgbClr val="BF5B26"/>
                </a:solidFill>
                <a:latin typeface="Cambria"/>
              </a:rPr>
              <a:t>SCD Type 2</a:t>
            </a:r>
          </a:p>
        </p:txBody>
      </p:sp>
      <p:sp>
        <p:nvSpPr>
          <p:cNvPr id="7" name="TextBox 6"/>
          <p:cNvSpPr txBox="1"/>
          <p:nvPr/>
        </p:nvSpPr>
        <p:spPr>
          <a:xfrm>
            <a:off x="3108960" y="2761488"/>
            <a:ext cx="4114800" cy="1097280"/>
          </a:xfrm>
          <a:prstGeom prst="rect">
            <a:avLst/>
          </a:prstGeom>
          <a:noFill/>
        </p:spPr>
        <p:txBody>
          <a:bodyPr wrap="square" lIns="0" rIns="0" tIns="0" bIns="0">
            <a:spAutoFit/>
          </a:bodyPr>
          <a:lstStyle/>
          <a:p>
            <a:pPr>
              <a:lnSpc>
                <a:spcPts val="1600"/>
              </a:lnSpc>
            </a:pPr>
            <a:r>
              <a:rPr sz="1150" b="0" i="0">
                <a:solidFill>
                  <a:srgbClr val="444B57"/>
                </a:solidFill>
                <a:latin typeface="Calibri"/>
              </a:rPr>
              <a:t>Araç, müşteri, bayi, personel, model ve parça boyutları versiyonlu: valid_from / valid_to / is_current. Bir fact hangi güne aitse o günkü boyut versiyonuna bağlanıyor — geçmiş rapor geçmişte kalıyor.</a:t>
            </a:r>
          </a:p>
        </p:txBody>
      </p:sp>
      <p:sp>
        <p:nvSpPr>
          <p:cNvPr id="8" name="TextBox 7"/>
          <p:cNvSpPr txBox="1"/>
          <p:nvPr/>
        </p:nvSpPr>
        <p:spPr>
          <a:xfrm>
            <a:off x="640080" y="3950208"/>
            <a:ext cx="2377440" cy="320040"/>
          </a:xfrm>
          <a:prstGeom prst="rect">
            <a:avLst/>
          </a:prstGeom>
          <a:noFill/>
        </p:spPr>
        <p:txBody>
          <a:bodyPr wrap="square" lIns="0" rIns="0" tIns="0" bIns="0">
            <a:spAutoFit/>
          </a:bodyPr>
          <a:lstStyle/>
          <a:p>
            <a:r>
              <a:rPr sz="1450" b="1" i="0">
                <a:solidFill>
                  <a:srgbClr val="BF5B26"/>
                </a:solidFill>
                <a:latin typeface="Cambria"/>
              </a:rPr>
              <a:t>Çıkarsanmış üye</a:t>
            </a:r>
          </a:p>
        </p:txBody>
      </p:sp>
      <p:sp>
        <p:nvSpPr>
          <p:cNvPr id="9" name="TextBox 8"/>
          <p:cNvSpPr txBox="1"/>
          <p:nvPr/>
        </p:nvSpPr>
        <p:spPr>
          <a:xfrm>
            <a:off x="3108960" y="3950208"/>
            <a:ext cx="4114800" cy="1097280"/>
          </a:xfrm>
          <a:prstGeom prst="rect">
            <a:avLst/>
          </a:prstGeom>
          <a:noFill/>
        </p:spPr>
        <p:txBody>
          <a:bodyPr wrap="square" lIns="0" rIns="0" tIns="0" bIns="0">
            <a:spAutoFit/>
          </a:bodyPr>
          <a:lstStyle/>
          <a:p>
            <a:pPr>
              <a:lnSpc>
                <a:spcPts val="1600"/>
              </a:lnSpc>
            </a:pPr>
            <a:r>
              <a:rPr sz="1150" b="0" i="0">
                <a:solidFill>
                  <a:srgbClr val="444B57"/>
                </a:solidFill>
                <a:latin typeface="Calibri"/>
              </a:rPr>
              <a:t>Ağ dışından bir araç servise geldiğinde fact düşürülmüyor ve “Bilinmiyor”a da gitmiyor: boyutta çıkarsanmış bir üye açılıyor, is_inferred = 1. Ne kadar olduğu ölçülebilir kalıyor.</a:t>
            </a:r>
          </a:p>
        </p:txBody>
      </p:sp>
      <p:sp>
        <p:nvSpPr>
          <p:cNvPr id="10" name="Rounded Rectangle 9"/>
          <p:cNvSpPr/>
          <p:nvPr/>
        </p:nvSpPr>
        <p:spPr>
          <a:xfrm>
            <a:off x="8001000" y="1572768"/>
            <a:ext cx="3520440" cy="361188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783080"/>
            <a:ext cx="3017520" cy="274320"/>
          </a:xfrm>
          <a:prstGeom prst="rect">
            <a:avLst/>
          </a:prstGeom>
          <a:noFill/>
        </p:spPr>
        <p:txBody>
          <a:bodyPr wrap="square" lIns="0" rIns="0" tIns="0" bIns="0">
            <a:spAutoFit/>
          </a:bodyPr>
          <a:lstStyle/>
          <a:p>
            <a:r>
              <a:rPr sz="950" b="1" i="0">
                <a:solidFill>
                  <a:srgbClr val="BF5B26"/>
                </a:solidFill>
                <a:latin typeface="Calibri"/>
              </a:rPr>
              <a:t>YÜKLENEN SATIRLAR</a:t>
            </a:r>
          </a:p>
        </p:txBody>
      </p:sp>
      <p:sp>
        <p:nvSpPr>
          <p:cNvPr id="12" name="TextBox 11"/>
          <p:cNvSpPr txBox="1"/>
          <p:nvPr/>
        </p:nvSpPr>
        <p:spPr>
          <a:xfrm>
            <a:off x="8229600" y="2194560"/>
            <a:ext cx="1965960" cy="274320"/>
          </a:xfrm>
          <a:prstGeom prst="rect">
            <a:avLst/>
          </a:prstGeom>
          <a:noFill/>
        </p:spPr>
        <p:txBody>
          <a:bodyPr wrap="square" lIns="0" rIns="0" tIns="0" bIns="0">
            <a:spAutoFit/>
          </a:bodyPr>
          <a:lstStyle/>
          <a:p>
            <a:r>
              <a:rPr sz="950" b="0" i="0">
                <a:solidFill>
                  <a:srgbClr val="444B57"/>
                </a:solidFill>
                <a:latin typeface="Calibri"/>
              </a:rPr>
              <a:t>dim_date</a:t>
            </a:r>
          </a:p>
        </p:txBody>
      </p:sp>
      <p:sp>
        <p:nvSpPr>
          <p:cNvPr id="13" name="TextBox 12"/>
          <p:cNvSpPr txBox="1"/>
          <p:nvPr/>
        </p:nvSpPr>
        <p:spPr>
          <a:xfrm>
            <a:off x="10195560" y="2194560"/>
            <a:ext cx="1051560" cy="274320"/>
          </a:xfrm>
          <a:prstGeom prst="rect">
            <a:avLst/>
          </a:prstGeom>
          <a:noFill/>
        </p:spPr>
        <p:txBody>
          <a:bodyPr wrap="square" lIns="0" rIns="0" tIns="0" bIns="0">
            <a:spAutoFit/>
          </a:bodyPr>
          <a:lstStyle/>
          <a:p>
            <a:pPr algn="r"/>
            <a:r>
              <a:rPr sz="950" b="1" i="0">
                <a:solidFill>
                  <a:srgbClr val="22252B"/>
                </a:solidFill>
                <a:latin typeface="Calibri"/>
              </a:rPr>
              <a:t>2.192</a:t>
            </a:r>
          </a:p>
        </p:txBody>
      </p:sp>
      <p:sp>
        <p:nvSpPr>
          <p:cNvPr id="14" name="TextBox 13"/>
          <p:cNvSpPr txBox="1"/>
          <p:nvPr/>
        </p:nvSpPr>
        <p:spPr>
          <a:xfrm>
            <a:off x="8229600" y="2551176"/>
            <a:ext cx="1965960" cy="274320"/>
          </a:xfrm>
          <a:prstGeom prst="rect">
            <a:avLst/>
          </a:prstGeom>
          <a:noFill/>
        </p:spPr>
        <p:txBody>
          <a:bodyPr wrap="square" lIns="0" rIns="0" tIns="0" bIns="0">
            <a:spAutoFit/>
          </a:bodyPr>
          <a:lstStyle/>
          <a:p>
            <a:r>
              <a:rPr sz="950" b="0" i="0">
                <a:solidFill>
                  <a:srgbClr val="444B57"/>
                </a:solidFill>
                <a:latin typeface="Calibri"/>
              </a:rPr>
              <a:t>dim_customer</a:t>
            </a:r>
          </a:p>
        </p:txBody>
      </p:sp>
      <p:sp>
        <p:nvSpPr>
          <p:cNvPr id="15" name="TextBox 14"/>
          <p:cNvSpPr txBox="1"/>
          <p:nvPr/>
        </p:nvSpPr>
        <p:spPr>
          <a:xfrm>
            <a:off x="10195560" y="2551176"/>
            <a:ext cx="1051560" cy="274320"/>
          </a:xfrm>
          <a:prstGeom prst="rect">
            <a:avLst/>
          </a:prstGeom>
          <a:noFill/>
        </p:spPr>
        <p:txBody>
          <a:bodyPr wrap="square" lIns="0" rIns="0" tIns="0" bIns="0">
            <a:spAutoFit/>
          </a:bodyPr>
          <a:lstStyle/>
          <a:p>
            <a:pPr algn="r"/>
            <a:r>
              <a:rPr sz="950" b="1" i="0">
                <a:solidFill>
                  <a:srgbClr val="22252B"/>
                </a:solidFill>
                <a:latin typeface="Calibri"/>
              </a:rPr>
              <a:t>26.235</a:t>
            </a:r>
          </a:p>
        </p:txBody>
      </p:sp>
      <p:sp>
        <p:nvSpPr>
          <p:cNvPr id="16" name="TextBox 15"/>
          <p:cNvSpPr txBox="1"/>
          <p:nvPr/>
        </p:nvSpPr>
        <p:spPr>
          <a:xfrm>
            <a:off x="8229600" y="2907791"/>
            <a:ext cx="1965960" cy="274320"/>
          </a:xfrm>
          <a:prstGeom prst="rect">
            <a:avLst/>
          </a:prstGeom>
          <a:noFill/>
        </p:spPr>
        <p:txBody>
          <a:bodyPr wrap="square" lIns="0" rIns="0" tIns="0" bIns="0">
            <a:spAutoFit/>
          </a:bodyPr>
          <a:lstStyle/>
          <a:p>
            <a:r>
              <a:rPr sz="950" b="0" i="0">
                <a:solidFill>
                  <a:srgbClr val="444B57"/>
                </a:solidFill>
                <a:latin typeface="Calibri"/>
              </a:rPr>
              <a:t>dim_vehicle</a:t>
            </a:r>
          </a:p>
        </p:txBody>
      </p:sp>
      <p:sp>
        <p:nvSpPr>
          <p:cNvPr id="17" name="TextBox 16"/>
          <p:cNvSpPr txBox="1"/>
          <p:nvPr/>
        </p:nvSpPr>
        <p:spPr>
          <a:xfrm>
            <a:off x="10195560" y="2907791"/>
            <a:ext cx="1051560" cy="274320"/>
          </a:xfrm>
          <a:prstGeom prst="rect">
            <a:avLst/>
          </a:prstGeom>
          <a:noFill/>
        </p:spPr>
        <p:txBody>
          <a:bodyPr wrap="square" lIns="0" rIns="0" tIns="0" bIns="0">
            <a:spAutoFit/>
          </a:bodyPr>
          <a:lstStyle/>
          <a:p>
            <a:pPr algn="r"/>
            <a:r>
              <a:rPr sz="950" b="1" i="0">
                <a:solidFill>
                  <a:srgbClr val="22252B"/>
                </a:solidFill>
                <a:latin typeface="Calibri"/>
              </a:rPr>
              <a:t>68.837</a:t>
            </a:r>
          </a:p>
        </p:txBody>
      </p:sp>
      <p:sp>
        <p:nvSpPr>
          <p:cNvPr id="18" name="TextBox 17"/>
          <p:cNvSpPr txBox="1"/>
          <p:nvPr/>
        </p:nvSpPr>
        <p:spPr>
          <a:xfrm>
            <a:off x="8229600" y="3264408"/>
            <a:ext cx="1965960" cy="274320"/>
          </a:xfrm>
          <a:prstGeom prst="rect">
            <a:avLst/>
          </a:prstGeom>
          <a:noFill/>
        </p:spPr>
        <p:txBody>
          <a:bodyPr wrap="square" lIns="0" rIns="0" tIns="0" bIns="0">
            <a:spAutoFit/>
          </a:bodyPr>
          <a:lstStyle/>
          <a:p>
            <a:r>
              <a:rPr sz="950" b="0" i="0">
                <a:solidFill>
                  <a:srgbClr val="444B57"/>
                </a:solidFill>
                <a:latin typeface="Calibri"/>
              </a:rPr>
              <a:t>dim_part</a:t>
            </a:r>
          </a:p>
        </p:txBody>
      </p:sp>
      <p:sp>
        <p:nvSpPr>
          <p:cNvPr id="19" name="TextBox 18"/>
          <p:cNvSpPr txBox="1"/>
          <p:nvPr/>
        </p:nvSpPr>
        <p:spPr>
          <a:xfrm>
            <a:off x="10195560" y="3264408"/>
            <a:ext cx="1051560" cy="274320"/>
          </a:xfrm>
          <a:prstGeom prst="rect">
            <a:avLst/>
          </a:prstGeom>
          <a:noFill/>
        </p:spPr>
        <p:txBody>
          <a:bodyPr wrap="square" lIns="0" rIns="0" tIns="0" bIns="0">
            <a:spAutoFit/>
          </a:bodyPr>
          <a:lstStyle/>
          <a:p>
            <a:pPr algn="r"/>
            <a:r>
              <a:rPr sz="950" b="1" i="0">
                <a:solidFill>
                  <a:srgbClr val="22252B"/>
                </a:solidFill>
                <a:latin typeface="Calibri"/>
              </a:rPr>
              <a:t>13.946</a:t>
            </a:r>
          </a:p>
        </p:txBody>
      </p:sp>
      <p:sp>
        <p:nvSpPr>
          <p:cNvPr id="20" name="TextBox 19"/>
          <p:cNvSpPr txBox="1"/>
          <p:nvPr/>
        </p:nvSpPr>
        <p:spPr>
          <a:xfrm>
            <a:off x="8229600" y="3621024"/>
            <a:ext cx="1965960" cy="274320"/>
          </a:xfrm>
          <a:prstGeom prst="rect">
            <a:avLst/>
          </a:prstGeom>
          <a:noFill/>
        </p:spPr>
        <p:txBody>
          <a:bodyPr wrap="square" lIns="0" rIns="0" tIns="0" bIns="0">
            <a:spAutoFit/>
          </a:bodyPr>
          <a:lstStyle/>
          <a:p>
            <a:r>
              <a:rPr sz="950" b="0" i="0">
                <a:solidFill>
                  <a:srgbClr val="444B57"/>
                </a:solidFill>
                <a:latin typeface="Calibri"/>
              </a:rPr>
              <a:t>fact_vehicle_sale</a:t>
            </a:r>
          </a:p>
        </p:txBody>
      </p:sp>
      <p:sp>
        <p:nvSpPr>
          <p:cNvPr id="21" name="TextBox 20"/>
          <p:cNvSpPr txBox="1"/>
          <p:nvPr/>
        </p:nvSpPr>
        <p:spPr>
          <a:xfrm>
            <a:off x="10195560" y="3621024"/>
            <a:ext cx="1051560" cy="274320"/>
          </a:xfrm>
          <a:prstGeom prst="rect">
            <a:avLst/>
          </a:prstGeom>
          <a:noFill/>
        </p:spPr>
        <p:txBody>
          <a:bodyPr wrap="square" lIns="0" rIns="0" tIns="0" bIns="0">
            <a:spAutoFit/>
          </a:bodyPr>
          <a:lstStyle/>
          <a:p>
            <a:pPr algn="r"/>
            <a:r>
              <a:rPr sz="950" b="1" i="0">
                <a:solidFill>
                  <a:srgbClr val="22252B"/>
                </a:solidFill>
                <a:latin typeface="Calibri"/>
              </a:rPr>
              <a:t>29.431</a:t>
            </a:r>
          </a:p>
        </p:txBody>
      </p:sp>
      <p:sp>
        <p:nvSpPr>
          <p:cNvPr id="22" name="TextBox 21"/>
          <p:cNvSpPr txBox="1"/>
          <p:nvPr/>
        </p:nvSpPr>
        <p:spPr>
          <a:xfrm>
            <a:off x="8229600" y="3977639"/>
            <a:ext cx="1965960" cy="274320"/>
          </a:xfrm>
          <a:prstGeom prst="rect">
            <a:avLst/>
          </a:prstGeom>
          <a:noFill/>
        </p:spPr>
        <p:txBody>
          <a:bodyPr wrap="square" lIns="0" rIns="0" tIns="0" bIns="0">
            <a:spAutoFit/>
          </a:bodyPr>
          <a:lstStyle/>
          <a:p>
            <a:r>
              <a:rPr sz="950" b="0" i="0">
                <a:solidFill>
                  <a:srgbClr val="444B57"/>
                </a:solidFill>
                <a:latin typeface="Calibri"/>
              </a:rPr>
              <a:t>fact_repair_order</a:t>
            </a:r>
          </a:p>
        </p:txBody>
      </p:sp>
      <p:sp>
        <p:nvSpPr>
          <p:cNvPr id="23" name="TextBox 22"/>
          <p:cNvSpPr txBox="1"/>
          <p:nvPr/>
        </p:nvSpPr>
        <p:spPr>
          <a:xfrm>
            <a:off x="10195560" y="3977639"/>
            <a:ext cx="1051560" cy="274320"/>
          </a:xfrm>
          <a:prstGeom prst="rect">
            <a:avLst/>
          </a:prstGeom>
          <a:noFill/>
        </p:spPr>
        <p:txBody>
          <a:bodyPr wrap="square" lIns="0" rIns="0" tIns="0" bIns="0">
            <a:spAutoFit/>
          </a:bodyPr>
          <a:lstStyle/>
          <a:p>
            <a:pPr algn="r"/>
            <a:r>
              <a:rPr sz="950" b="1" i="0">
                <a:solidFill>
                  <a:srgbClr val="22252B"/>
                </a:solidFill>
                <a:latin typeface="Calibri"/>
              </a:rPr>
              <a:t>176.414</a:t>
            </a:r>
          </a:p>
        </p:txBody>
      </p:sp>
      <p:sp>
        <p:nvSpPr>
          <p:cNvPr id="24" name="TextBox 23"/>
          <p:cNvSpPr txBox="1"/>
          <p:nvPr/>
        </p:nvSpPr>
        <p:spPr>
          <a:xfrm>
            <a:off x="8229600" y="4334256"/>
            <a:ext cx="1965960" cy="274320"/>
          </a:xfrm>
          <a:prstGeom prst="rect">
            <a:avLst/>
          </a:prstGeom>
          <a:noFill/>
        </p:spPr>
        <p:txBody>
          <a:bodyPr wrap="square" lIns="0" rIns="0" tIns="0" bIns="0">
            <a:spAutoFit/>
          </a:bodyPr>
          <a:lstStyle/>
          <a:p>
            <a:r>
              <a:rPr sz="950" b="0" i="0">
                <a:solidFill>
                  <a:srgbClr val="444B57"/>
                </a:solidFill>
                <a:latin typeface="Calibri"/>
              </a:rPr>
              <a:t>fact_repair_order_line</a:t>
            </a:r>
          </a:p>
        </p:txBody>
      </p:sp>
      <p:sp>
        <p:nvSpPr>
          <p:cNvPr id="25" name="TextBox 24"/>
          <p:cNvSpPr txBox="1"/>
          <p:nvPr/>
        </p:nvSpPr>
        <p:spPr>
          <a:xfrm>
            <a:off x="10195560" y="4334256"/>
            <a:ext cx="1051560" cy="274320"/>
          </a:xfrm>
          <a:prstGeom prst="rect">
            <a:avLst/>
          </a:prstGeom>
          <a:noFill/>
        </p:spPr>
        <p:txBody>
          <a:bodyPr wrap="square" lIns="0" rIns="0" tIns="0" bIns="0">
            <a:spAutoFit/>
          </a:bodyPr>
          <a:lstStyle/>
          <a:p>
            <a:pPr algn="r"/>
            <a:r>
              <a:rPr sz="950" b="1" i="0">
                <a:solidFill>
                  <a:srgbClr val="22252B"/>
                </a:solidFill>
                <a:latin typeface="Calibri"/>
              </a:rPr>
              <a:t>608.703</a:t>
            </a:r>
          </a:p>
        </p:txBody>
      </p:sp>
      <p:sp>
        <p:nvSpPr>
          <p:cNvPr id="26" name="TextBox 25"/>
          <p:cNvSpPr txBox="1"/>
          <p:nvPr/>
        </p:nvSpPr>
        <p:spPr>
          <a:xfrm>
            <a:off x="8229600" y="4690872"/>
            <a:ext cx="1965960" cy="274320"/>
          </a:xfrm>
          <a:prstGeom prst="rect">
            <a:avLst/>
          </a:prstGeom>
          <a:noFill/>
        </p:spPr>
        <p:txBody>
          <a:bodyPr wrap="square" lIns="0" rIns="0" tIns="0" bIns="0">
            <a:spAutoFit/>
          </a:bodyPr>
          <a:lstStyle/>
          <a:p>
            <a:r>
              <a:rPr sz="950" b="0" i="0">
                <a:solidFill>
                  <a:srgbClr val="444B57"/>
                </a:solidFill>
                <a:latin typeface="Calibri"/>
              </a:rPr>
              <a:t>fact_vehicle_inventory_daily</a:t>
            </a:r>
          </a:p>
        </p:txBody>
      </p:sp>
      <p:sp>
        <p:nvSpPr>
          <p:cNvPr id="27" name="TextBox 26"/>
          <p:cNvSpPr txBox="1"/>
          <p:nvPr/>
        </p:nvSpPr>
        <p:spPr>
          <a:xfrm>
            <a:off x="10195560" y="4690872"/>
            <a:ext cx="1051560" cy="274320"/>
          </a:xfrm>
          <a:prstGeom prst="rect">
            <a:avLst/>
          </a:prstGeom>
          <a:noFill/>
        </p:spPr>
        <p:txBody>
          <a:bodyPr wrap="square" lIns="0" rIns="0" tIns="0" bIns="0">
            <a:spAutoFit/>
          </a:bodyPr>
          <a:lstStyle/>
          <a:p>
            <a:pPr algn="r"/>
            <a:r>
              <a:rPr sz="950" b="1" i="0">
                <a:solidFill>
                  <a:srgbClr val="22252B"/>
                </a:solidFill>
                <a:latin typeface="Calibri"/>
              </a:rPr>
              <a:t>8.591.335</a:t>
            </a:r>
          </a:p>
        </p:txBody>
      </p:sp>
      <p:sp>
        <p:nvSpPr>
          <p:cNvPr id="28" name="TextBox 27"/>
          <p:cNvSpPr txBox="1"/>
          <p:nvPr/>
        </p:nvSpPr>
        <p:spPr>
          <a:xfrm>
            <a:off x="640080" y="5349240"/>
            <a:ext cx="10881360" cy="457200"/>
          </a:xfrm>
          <a:prstGeom prst="rect">
            <a:avLst/>
          </a:prstGeom>
          <a:noFill/>
        </p:spPr>
        <p:txBody>
          <a:bodyPr wrap="square" lIns="0" rIns="0" tIns="0" bIns="0">
            <a:spAutoFit/>
          </a:bodyPr>
          <a:lstStyle/>
          <a:p>
            <a:r>
              <a:rPr sz="1200" b="0" i="1">
                <a:solidFill>
                  <a:srgbClr val="8A8F98"/>
                </a:solidFill>
                <a:latin typeface="Calibri"/>
              </a:rPr>
              <a:t>Envanter fact'i günlük periyodik snapshot: satılmayan aracı sayabilen tek fact tipi — ve stok maliyetini yaratan tam olarak o araçlar.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2252B"/>
        </a:solidFill>
        <a:effectLst/>
      </p:bgPr>
    </p:bg>
    <p:spTree>
      <p:nvGrpSpPr>
        <p:cNvPr id="1" name=""/>
        <p:cNvGrpSpPr/>
        <p:nvPr/>
      </p:nvGrpSpPr>
      <p:grpSpPr/>
      <p:sp>
        <p:nvSpPr>
          <p:cNvPr id="2" name="TextBox 1"/>
          <p:cNvSpPr txBox="1"/>
          <p:nvPr/>
        </p:nvSpPr>
        <p:spPr>
          <a:xfrm>
            <a:off x="640080" y="640080"/>
            <a:ext cx="7315200" cy="274320"/>
          </a:xfrm>
          <a:prstGeom prst="rect">
            <a:avLst/>
          </a:prstGeom>
          <a:noFill/>
        </p:spPr>
        <p:txBody>
          <a:bodyPr wrap="square" lIns="0" rIns="0" tIns="0" bIns="0">
            <a:spAutoFit/>
          </a:bodyPr>
          <a:lstStyle/>
          <a:p>
            <a:r>
              <a:rPr sz="1150" b="1" i="0">
                <a:solidFill>
                  <a:srgbClr val="BF5B26"/>
                </a:solidFill>
                <a:latin typeface="Calibri"/>
              </a:rPr>
              <a:t>VERİ KALİTESİ</a:t>
            </a:r>
          </a:p>
        </p:txBody>
      </p:sp>
      <p:sp>
        <p:nvSpPr>
          <p:cNvPr id="3" name="TextBox 2"/>
          <p:cNvSpPr txBox="1"/>
          <p:nvPr/>
        </p:nvSpPr>
        <p:spPr>
          <a:xfrm>
            <a:off x="640080" y="960120"/>
            <a:ext cx="10058400" cy="640080"/>
          </a:xfrm>
          <a:prstGeom prst="rect">
            <a:avLst/>
          </a:prstGeom>
          <a:noFill/>
        </p:spPr>
        <p:txBody>
          <a:bodyPr wrap="square" lIns="0" rIns="0" tIns="0" bIns="0">
            <a:spAutoFit/>
          </a:bodyPr>
          <a:lstStyle/>
          <a:p>
            <a:r>
              <a:rPr sz="3200" b="1" i="0">
                <a:solidFill>
                  <a:srgbClr val="FFFFFF"/>
                </a:solidFill>
                <a:latin typeface="Cambria"/>
              </a:rPr>
              <a:t>Kural yazmak değil, ölçmek</a:t>
            </a:r>
          </a:p>
        </p:txBody>
      </p:sp>
      <p:sp>
        <p:nvSpPr>
          <p:cNvPr id="4" name="TextBox 3"/>
          <p:cNvSpPr txBox="1"/>
          <p:nvPr/>
        </p:nvSpPr>
        <p:spPr>
          <a:xfrm>
            <a:off x="640080" y="1783080"/>
            <a:ext cx="6583680" cy="1280160"/>
          </a:xfrm>
          <a:prstGeom prst="rect">
            <a:avLst/>
          </a:prstGeom>
          <a:noFill/>
        </p:spPr>
        <p:txBody>
          <a:bodyPr wrap="square" lIns="0" rIns="0" tIns="0" bIns="0">
            <a:spAutoFit/>
          </a:bodyPr>
          <a:lstStyle/>
          <a:p>
            <a:pPr>
              <a:lnSpc>
                <a:spcPts val="2200"/>
              </a:lnSpc>
            </a:pPr>
            <a:r>
              <a:rPr sz="1400" b="0" i="0">
                <a:solidFill>
                  <a:srgbClr val="C9CCD2"/>
                </a:solidFill>
                <a:latin typeface="Calibri"/>
              </a:rPr>
              <a:t>Jeneratör her kasıtlı kusuru _injection_log.csv'ye yazıyor: hangi varlık, hangi iş anahtarı, hangi sütun, öncesi, sonrası ve onu yakalaması gereken kural kodu. Böylece “DQ kuralı yazdım” cümlesi “kurallarımın kaçını yakaladığını ölçtüm” cümlesine dönüşüyor.</a:t>
            </a:r>
          </a:p>
        </p:txBody>
      </p:sp>
      <p:sp>
        <p:nvSpPr>
          <p:cNvPr id="5" name="Oval 4"/>
          <p:cNvSpPr/>
          <p:nvPr/>
        </p:nvSpPr>
        <p:spPr>
          <a:xfrm>
            <a:off x="640080" y="3291839"/>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3246120"/>
            <a:ext cx="6217920" cy="292608"/>
          </a:xfrm>
          <a:prstGeom prst="rect">
            <a:avLst/>
          </a:prstGeom>
          <a:noFill/>
        </p:spPr>
        <p:txBody>
          <a:bodyPr wrap="square" lIns="0" rIns="0" tIns="0" bIns="0">
            <a:spAutoFit/>
          </a:bodyPr>
          <a:lstStyle/>
          <a:p>
            <a:r>
              <a:rPr sz="1300" b="1" i="0">
                <a:solidFill>
                  <a:srgbClr val="FFFFFF"/>
                </a:solidFill>
                <a:latin typeface="Calibri"/>
              </a:rPr>
              <a:t>Kural kodları koddan import ediliyor</a:t>
            </a:r>
          </a:p>
        </p:txBody>
      </p:sp>
      <p:sp>
        <p:nvSpPr>
          <p:cNvPr id="7" name="TextBox 6"/>
          <p:cNvSpPr txBox="1"/>
          <p:nvPr/>
        </p:nvSpPr>
        <p:spPr>
          <a:xfrm>
            <a:off x="1024127" y="3538727"/>
            <a:ext cx="6217920" cy="594360"/>
          </a:xfrm>
          <a:prstGeom prst="rect">
            <a:avLst/>
          </a:prstGeom>
          <a:noFill/>
        </p:spPr>
        <p:txBody>
          <a:bodyPr wrap="square" lIns="0" rIns="0" tIns="0" bIns="0">
            <a:spAutoFit/>
          </a:bodyPr>
          <a:lstStyle/>
          <a:p>
            <a:pPr>
              <a:lnSpc>
                <a:spcPts val="1600"/>
              </a:lnSpc>
            </a:pPr>
            <a:r>
              <a:rPr sz="1150" b="0" i="0">
                <a:solidFill>
                  <a:srgbClr val="9AA0A8"/>
                </a:solidFill>
                <a:latin typeface="Calibri"/>
              </a:rPr>
              <a:t>Enjekte edilebilir bir kusur tipinin karşılığı bir kural yoksa seed üretimi hata verip durur.</a:t>
            </a:r>
          </a:p>
        </p:txBody>
      </p:sp>
      <p:sp>
        <p:nvSpPr>
          <p:cNvPr id="8" name="Oval 7"/>
          <p:cNvSpPr/>
          <p:nvPr/>
        </p:nvSpPr>
        <p:spPr>
          <a:xfrm>
            <a:off x="640080" y="4315968"/>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4270248"/>
            <a:ext cx="6217920" cy="292608"/>
          </a:xfrm>
          <a:prstGeom prst="rect">
            <a:avLst/>
          </a:prstGeom>
          <a:noFill/>
        </p:spPr>
        <p:txBody>
          <a:bodyPr wrap="square" lIns="0" rIns="0" tIns="0" bIns="0">
            <a:spAutoFit/>
          </a:bodyPr>
          <a:lstStyle/>
          <a:p>
            <a:r>
              <a:rPr sz="1300" b="1" i="0">
                <a:solidFill>
                  <a:srgbClr val="FFFFFF"/>
                </a:solidFill>
                <a:latin typeface="Calibri"/>
              </a:rPr>
              <a:t>Enjeksiyondan önceki çıktı temiz</a:t>
            </a:r>
          </a:p>
        </p:txBody>
      </p:sp>
      <p:sp>
        <p:nvSpPr>
          <p:cNvPr id="10" name="TextBox 9"/>
          <p:cNvSpPr txBox="1"/>
          <p:nvPr/>
        </p:nvSpPr>
        <p:spPr>
          <a:xfrm>
            <a:off x="1024127" y="4562856"/>
            <a:ext cx="6217920" cy="594360"/>
          </a:xfrm>
          <a:prstGeom prst="rect">
            <a:avLst/>
          </a:prstGeom>
          <a:noFill/>
        </p:spPr>
        <p:txBody>
          <a:bodyPr wrap="square" lIns="0" rIns="0" tIns="0" bIns="0">
            <a:spAutoFit/>
          </a:bodyPr>
          <a:lstStyle/>
          <a:p>
            <a:pPr>
              <a:lnSpc>
                <a:spcPts val="1600"/>
              </a:lnSpc>
            </a:pPr>
            <a:r>
              <a:rPr sz="1150" b="0" i="0">
                <a:solidFill>
                  <a:srgbClr val="9AA0A8"/>
                </a:solidFill>
                <a:latin typeface="Calibri"/>
              </a:rPr>
              <a:t>Ve bu denetlendi: aynı gün iki kez servise giren araçlar 596 hayalet kilometre geri dönüşü üretiyordu — kimsenin enjekte etmediği bir kusur.</a:t>
            </a:r>
          </a:p>
        </p:txBody>
      </p:sp>
      <p:sp>
        <p:nvSpPr>
          <p:cNvPr id="11" name="Oval 10"/>
          <p:cNvSpPr/>
          <p:nvPr/>
        </p:nvSpPr>
        <p:spPr>
          <a:xfrm>
            <a:off x="640080" y="5340096"/>
            <a:ext cx="182880" cy="182880"/>
          </a:xfrm>
          <a:prstGeom prst="ellipse">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5294376"/>
            <a:ext cx="6217920" cy="292608"/>
          </a:xfrm>
          <a:prstGeom prst="rect">
            <a:avLst/>
          </a:prstGeom>
          <a:noFill/>
        </p:spPr>
        <p:txBody>
          <a:bodyPr wrap="square" lIns="0" rIns="0" tIns="0" bIns="0">
            <a:spAutoFit/>
          </a:bodyPr>
          <a:lstStyle/>
          <a:p>
            <a:r>
              <a:rPr sz="1300" b="1" i="0">
                <a:solidFill>
                  <a:srgbClr val="FFFFFF"/>
                </a:solidFill>
                <a:latin typeface="Calibri"/>
              </a:rPr>
              <a:t>VIN check digit — ISO 3779</a:t>
            </a:r>
          </a:p>
        </p:txBody>
      </p:sp>
      <p:sp>
        <p:nvSpPr>
          <p:cNvPr id="13" name="TextBox 12"/>
          <p:cNvSpPr txBox="1"/>
          <p:nvPr/>
        </p:nvSpPr>
        <p:spPr>
          <a:xfrm>
            <a:off x="1024127" y="5586984"/>
            <a:ext cx="6217920" cy="594360"/>
          </a:xfrm>
          <a:prstGeom prst="rect">
            <a:avLst/>
          </a:prstGeom>
          <a:noFill/>
        </p:spPr>
        <p:txBody>
          <a:bodyPr wrap="square" lIns="0" rIns="0" tIns="0" bIns="0">
            <a:spAutoFit/>
          </a:bodyPr>
          <a:lstStyle/>
          <a:p>
            <a:pPr>
              <a:lnSpc>
                <a:spcPts val="1600"/>
              </a:lnSpc>
            </a:pPr>
            <a:r>
              <a:rPr sz="1150" b="0" i="0">
                <a:solidFill>
                  <a:srgbClr val="9AA0A8"/>
                </a:solidFill>
                <a:latin typeface="Calibri"/>
              </a:rPr>
              <a:t>17 karakterin hepsi geçerli olabilir ve VIN yine de yanlış olabilir. Transpozisyonu yalnızca 9. hane yakalar; format kontrolü fark etmez.</a:t>
            </a:r>
          </a:p>
        </p:txBody>
      </p:sp>
      <p:sp>
        <p:nvSpPr>
          <p:cNvPr id="14" name="Rounded Rectangle 13"/>
          <p:cNvSpPr/>
          <p:nvPr/>
        </p:nvSpPr>
        <p:spPr>
          <a:xfrm>
            <a:off x="7680960" y="1783080"/>
            <a:ext cx="3886200" cy="4023360"/>
          </a:xfrm>
          <a:prstGeom prst="roundRect">
            <a:avLst>
              <a:gd name="adj" fmla="val 5000"/>
            </a:avLst>
          </a:prstGeom>
          <a:solidFill>
            <a:srgbClr val="2E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2011680"/>
            <a:ext cx="3383280" cy="274320"/>
          </a:xfrm>
          <a:prstGeom prst="rect">
            <a:avLst/>
          </a:prstGeom>
          <a:noFill/>
        </p:spPr>
        <p:txBody>
          <a:bodyPr wrap="square" lIns="0" rIns="0" tIns="0" bIns="0">
            <a:spAutoFit/>
          </a:bodyPr>
          <a:lstStyle/>
          <a:p>
            <a:r>
              <a:rPr sz="1050" b="1" i="0">
                <a:solidFill>
                  <a:srgbClr val="BF5B26"/>
                </a:solidFill>
                <a:latin typeface="Calibri"/>
              </a:rPr>
              <a:t>GERÇEK ÇALIŞTIRMA SONUCU</a:t>
            </a:r>
          </a:p>
        </p:txBody>
      </p:sp>
      <p:sp>
        <p:nvSpPr>
          <p:cNvPr id="16" name="TextBox 15"/>
          <p:cNvSpPr txBox="1"/>
          <p:nvPr/>
        </p:nvSpPr>
        <p:spPr>
          <a:xfrm>
            <a:off x="7955279" y="2487168"/>
            <a:ext cx="1051560" cy="457200"/>
          </a:xfrm>
          <a:prstGeom prst="rect">
            <a:avLst/>
          </a:prstGeom>
          <a:noFill/>
        </p:spPr>
        <p:txBody>
          <a:bodyPr wrap="square" lIns="0" rIns="0" tIns="0" bIns="0">
            <a:spAutoFit/>
          </a:bodyPr>
          <a:lstStyle/>
          <a:p>
            <a:r>
              <a:rPr sz="2500" b="1" i="0">
                <a:solidFill>
                  <a:srgbClr val="FFFFFF"/>
                </a:solidFill>
                <a:latin typeface="Cambria"/>
              </a:rPr>
              <a:t>25</a:t>
            </a:r>
          </a:p>
        </p:txBody>
      </p:sp>
      <p:sp>
        <p:nvSpPr>
          <p:cNvPr id="17" name="TextBox 16"/>
          <p:cNvSpPr txBox="1"/>
          <p:nvPr/>
        </p:nvSpPr>
        <p:spPr>
          <a:xfrm>
            <a:off x="9052560" y="2615184"/>
            <a:ext cx="2286000" cy="274320"/>
          </a:xfrm>
          <a:prstGeom prst="rect">
            <a:avLst/>
          </a:prstGeom>
          <a:noFill/>
        </p:spPr>
        <p:txBody>
          <a:bodyPr wrap="square" lIns="0" rIns="0" tIns="0" bIns="0">
            <a:spAutoFit/>
          </a:bodyPr>
          <a:lstStyle/>
          <a:p>
            <a:r>
              <a:rPr sz="1150" b="0" i="0">
                <a:solidFill>
                  <a:srgbClr val="9AA0A8"/>
                </a:solidFill>
                <a:latin typeface="Calibri"/>
              </a:rPr>
              <a:t>kural çalıştı</a:t>
            </a:r>
          </a:p>
        </p:txBody>
      </p:sp>
      <p:sp>
        <p:nvSpPr>
          <p:cNvPr id="18" name="TextBox 17"/>
          <p:cNvSpPr txBox="1"/>
          <p:nvPr/>
        </p:nvSpPr>
        <p:spPr>
          <a:xfrm>
            <a:off x="7955279" y="3291840"/>
            <a:ext cx="1051560" cy="457200"/>
          </a:xfrm>
          <a:prstGeom prst="rect">
            <a:avLst/>
          </a:prstGeom>
          <a:noFill/>
        </p:spPr>
        <p:txBody>
          <a:bodyPr wrap="square" lIns="0" rIns="0" tIns="0" bIns="0">
            <a:spAutoFit/>
          </a:bodyPr>
          <a:lstStyle/>
          <a:p>
            <a:r>
              <a:rPr sz="2500" b="1" i="0">
                <a:solidFill>
                  <a:srgbClr val="3F6F60"/>
                </a:solidFill>
                <a:latin typeface="Cambria"/>
              </a:rPr>
              <a:t>0</a:t>
            </a:r>
          </a:p>
        </p:txBody>
      </p:sp>
      <p:sp>
        <p:nvSpPr>
          <p:cNvPr id="19" name="TextBox 18"/>
          <p:cNvSpPr txBox="1"/>
          <p:nvPr/>
        </p:nvSpPr>
        <p:spPr>
          <a:xfrm>
            <a:off x="9052560" y="3419856"/>
            <a:ext cx="2286000" cy="274320"/>
          </a:xfrm>
          <a:prstGeom prst="rect">
            <a:avLst/>
          </a:prstGeom>
          <a:noFill/>
        </p:spPr>
        <p:txBody>
          <a:bodyPr wrap="square" lIns="0" rIns="0" tIns="0" bIns="0">
            <a:spAutoFit/>
          </a:bodyPr>
          <a:lstStyle/>
          <a:p>
            <a:r>
              <a:rPr sz="1150" b="0" i="0">
                <a:solidFill>
                  <a:srgbClr val="9AA0A8"/>
                </a:solidFill>
                <a:latin typeface="Calibri"/>
              </a:rPr>
              <a:t>hatalı (errored) kural</a:t>
            </a:r>
          </a:p>
        </p:txBody>
      </p:sp>
      <p:sp>
        <p:nvSpPr>
          <p:cNvPr id="20" name="TextBox 19"/>
          <p:cNvSpPr txBox="1"/>
          <p:nvPr/>
        </p:nvSpPr>
        <p:spPr>
          <a:xfrm>
            <a:off x="7955279" y="4096512"/>
            <a:ext cx="1051560" cy="457200"/>
          </a:xfrm>
          <a:prstGeom prst="rect">
            <a:avLst/>
          </a:prstGeom>
          <a:noFill/>
        </p:spPr>
        <p:txBody>
          <a:bodyPr wrap="square" lIns="0" rIns="0" tIns="0" bIns="0">
            <a:spAutoFit/>
          </a:bodyPr>
          <a:lstStyle/>
          <a:p>
            <a:r>
              <a:rPr sz="2500" b="1" i="0">
                <a:solidFill>
                  <a:srgbClr val="FFFFFF"/>
                </a:solidFill>
                <a:latin typeface="Cambria"/>
              </a:rPr>
              <a:t>14</a:t>
            </a:r>
          </a:p>
        </p:txBody>
      </p:sp>
      <p:sp>
        <p:nvSpPr>
          <p:cNvPr id="21" name="TextBox 20"/>
          <p:cNvSpPr txBox="1"/>
          <p:nvPr/>
        </p:nvSpPr>
        <p:spPr>
          <a:xfrm>
            <a:off x="9052560" y="4224528"/>
            <a:ext cx="2286000" cy="274320"/>
          </a:xfrm>
          <a:prstGeom prst="rect">
            <a:avLst/>
          </a:prstGeom>
          <a:noFill/>
        </p:spPr>
        <p:txBody>
          <a:bodyPr wrap="square" lIns="0" rIns="0" tIns="0" bIns="0">
            <a:spAutoFit/>
          </a:bodyPr>
          <a:lstStyle/>
          <a:p>
            <a:r>
              <a:rPr sz="1150" b="0" i="0">
                <a:solidFill>
                  <a:srgbClr val="9AA0A8"/>
                </a:solidFill>
                <a:latin typeface="Calibri"/>
              </a:rPr>
              <a:t>temiz geçen kural</a:t>
            </a:r>
          </a:p>
        </p:txBody>
      </p:sp>
      <p:sp>
        <p:nvSpPr>
          <p:cNvPr id="22" name="TextBox 21"/>
          <p:cNvSpPr txBox="1"/>
          <p:nvPr/>
        </p:nvSpPr>
        <p:spPr>
          <a:xfrm>
            <a:off x="7955279" y="4901184"/>
            <a:ext cx="1051560" cy="457200"/>
          </a:xfrm>
          <a:prstGeom prst="rect">
            <a:avLst/>
          </a:prstGeom>
          <a:noFill/>
        </p:spPr>
        <p:txBody>
          <a:bodyPr wrap="square" lIns="0" rIns="0" tIns="0" bIns="0">
            <a:spAutoFit/>
          </a:bodyPr>
          <a:lstStyle/>
          <a:p>
            <a:r>
              <a:rPr sz="2500" b="1" i="0">
                <a:solidFill>
                  <a:srgbClr val="FFFFFF"/>
                </a:solidFill>
                <a:latin typeface="Cambria"/>
              </a:rPr>
              <a:t>10</a:t>
            </a:r>
          </a:p>
        </p:txBody>
      </p:sp>
      <p:sp>
        <p:nvSpPr>
          <p:cNvPr id="23" name="TextBox 22"/>
          <p:cNvSpPr txBox="1"/>
          <p:nvPr/>
        </p:nvSpPr>
        <p:spPr>
          <a:xfrm>
            <a:off x="9052560" y="5029200"/>
            <a:ext cx="2286000" cy="274320"/>
          </a:xfrm>
          <a:prstGeom prst="rect">
            <a:avLst/>
          </a:prstGeom>
          <a:noFill/>
        </p:spPr>
        <p:txBody>
          <a:bodyPr wrap="square" lIns="0" rIns="0" tIns="0" bIns="0">
            <a:spAutoFit/>
          </a:bodyPr>
          <a:lstStyle/>
          <a:p>
            <a:r>
              <a:rPr sz="1150" b="0" i="0">
                <a:solidFill>
                  <a:srgbClr val="9AA0A8"/>
                </a:solidFill>
                <a:latin typeface="Calibri"/>
              </a:rPr>
              <a:t>gerçek ihlal bulan kural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SUNUM KATMANI</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Power BI — Direct Lake semantik model</a:t>
            </a:r>
          </a:p>
        </p:txBody>
      </p:sp>
      <p:pic>
        <p:nvPicPr>
          <p:cNvPr id="4" name="Picture 3" descr="powerbi_report.png"/>
          <p:cNvPicPr>
            <a:picLocks noChangeAspect="1"/>
          </p:cNvPicPr>
          <p:nvPr/>
        </p:nvPicPr>
        <p:blipFill>
          <a:blip r:embed="rId2"/>
          <a:stretch>
            <a:fillRect/>
          </a:stretch>
        </p:blipFill>
        <p:spPr>
          <a:xfrm>
            <a:off x="721891" y="1508760"/>
            <a:ext cx="7608777" cy="4206240"/>
          </a:xfrm>
          <a:prstGeom prst="rect">
            <a:avLst/>
          </a:prstGeom>
        </p:spPr>
      </p:pic>
      <p:sp>
        <p:nvSpPr>
          <p:cNvPr id="5" name="Rounded Rectangle 4"/>
          <p:cNvSpPr/>
          <p:nvPr/>
        </p:nvSpPr>
        <p:spPr>
          <a:xfrm>
            <a:off x="8641080" y="1508760"/>
            <a:ext cx="2926080" cy="4206240"/>
          </a:xfrm>
          <a:prstGeom prst="roundRect">
            <a:avLst>
              <a:gd name="adj" fmla="val 5000"/>
            </a:avLst>
          </a:prstGeom>
          <a:solidFill>
            <a:srgbClr val="F3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7968" y="1737360"/>
            <a:ext cx="2468880" cy="274320"/>
          </a:xfrm>
          <a:prstGeom prst="rect">
            <a:avLst/>
          </a:prstGeom>
          <a:noFill/>
        </p:spPr>
        <p:txBody>
          <a:bodyPr wrap="square" lIns="0" rIns="0" tIns="0" bIns="0">
            <a:spAutoFit/>
          </a:bodyPr>
          <a:lstStyle/>
          <a:p>
            <a:r>
              <a:rPr sz="1050" b="1" i="0">
                <a:solidFill>
                  <a:srgbClr val="BF5B26"/>
                </a:solidFill>
                <a:latin typeface="Calibri"/>
              </a:rPr>
              <a:t>MODELDE</a:t>
            </a:r>
          </a:p>
        </p:txBody>
      </p:sp>
      <p:sp>
        <p:nvSpPr>
          <p:cNvPr id="7" name="TextBox 6"/>
          <p:cNvSpPr txBox="1"/>
          <p:nvPr/>
        </p:nvSpPr>
        <p:spPr>
          <a:xfrm>
            <a:off x="8887968" y="2148840"/>
            <a:ext cx="914400" cy="457200"/>
          </a:xfrm>
          <a:prstGeom prst="rect">
            <a:avLst/>
          </a:prstGeom>
          <a:noFill/>
        </p:spPr>
        <p:txBody>
          <a:bodyPr wrap="square" lIns="0" rIns="0" tIns="0" bIns="0">
            <a:spAutoFit/>
          </a:bodyPr>
          <a:lstStyle/>
          <a:p>
            <a:r>
              <a:rPr sz="2500" b="1" i="0">
                <a:solidFill>
                  <a:srgbClr val="22252B"/>
                </a:solidFill>
                <a:latin typeface="Cambria"/>
              </a:rPr>
              <a:t>9</a:t>
            </a:r>
          </a:p>
        </p:txBody>
      </p:sp>
      <p:sp>
        <p:nvSpPr>
          <p:cNvPr id="8" name="TextBox 7"/>
          <p:cNvSpPr txBox="1"/>
          <p:nvPr/>
        </p:nvSpPr>
        <p:spPr>
          <a:xfrm>
            <a:off x="8887968" y="2569464"/>
            <a:ext cx="2468880" cy="411480"/>
          </a:xfrm>
          <a:prstGeom prst="rect">
            <a:avLst/>
          </a:prstGeom>
          <a:noFill/>
        </p:spPr>
        <p:txBody>
          <a:bodyPr wrap="square" lIns="0" rIns="0" tIns="0" bIns="0">
            <a:spAutoFit/>
          </a:bodyPr>
          <a:lstStyle/>
          <a:p>
            <a:pPr>
              <a:lnSpc>
                <a:spcPts val="1400"/>
              </a:lnSpc>
            </a:pPr>
            <a:r>
              <a:rPr sz="1100" b="0" i="0">
                <a:solidFill>
                  <a:srgbClr val="8A8F98"/>
                </a:solidFill>
                <a:latin typeface="Calibri"/>
              </a:rPr>
              <a:t>tablo — yalnızca</a:t>
            </a:r>
          </a:p>
          <a:p>
            <a:pPr>
              <a:lnSpc>
                <a:spcPts val="1400"/>
              </a:lnSpc>
            </a:pPr>
            <a:r>
              <a:rPr sz="1100" b="0" i="0">
                <a:solidFill>
                  <a:srgbClr val="8A8F98"/>
                </a:solidFill>
                <a:latin typeface="Calibri"/>
              </a:rPr>
              <a:t>işe yarayanlar</a:t>
            </a:r>
          </a:p>
        </p:txBody>
      </p:sp>
      <p:sp>
        <p:nvSpPr>
          <p:cNvPr id="9" name="TextBox 8"/>
          <p:cNvSpPr txBox="1"/>
          <p:nvPr/>
        </p:nvSpPr>
        <p:spPr>
          <a:xfrm>
            <a:off x="8887968" y="3063240"/>
            <a:ext cx="914400" cy="457200"/>
          </a:xfrm>
          <a:prstGeom prst="rect">
            <a:avLst/>
          </a:prstGeom>
          <a:noFill/>
        </p:spPr>
        <p:txBody>
          <a:bodyPr wrap="square" lIns="0" rIns="0" tIns="0" bIns="0">
            <a:spAutoFit/>
          </a:bodyPr>
          <a:lstStyle/>
          <a:p>
            <a:r>
              <a:rPr sz="2500" b="1" i="0">
                <a:solidFill>
                  <a:srgbClr val="22252B"/>
                </a:solidFill>
                <a:latin typeface="Cambria"/>
              </a:rPr>
              <a:t>11</a:t>
            </a:r>
          </a:p>
        </p:txBody>
      </p:sp>
      <p:sp>
        <p:nvSpPr>
          <p:cNvPr id="10" name="TextBox 9"/>
          <p:cNvSpPr txBox="1"/>
          <p:nvPr/>
        </p:nvSpPr>
        <p:spPr>
          <a:xfrm>
            <a:off x="8887968" y="3483864"/>
            <a:ext cx="2468880" cy="411480"/>
          </a:xfrm>
          <a:prstGeom prst="rect">
            <a:avLst/>
          </a:prstGeom>
          <a:noFill/>
        </p:spPr>
        <p:txBody>
          <a:bodyPr wrap="square" lIns="0" rIns="0" tIns="0" bIns="0">
            <a:spAutoFit/>
          </a:bodyPr>
          <a:lstStyle/>
          <a:p>
            <a:pPr>
              <a:lnSpc>
                <a:spcPts val="1400"/>
              </a:lnSpc>
            </a:pPr>
            <a:r>
              <a:rPr sz="1100" b="0" i="0">
                <a:solidFill>
                  <a:srgbClr val="8A8F98"/>
                </a:solidFill>
                <a:latin typeface="Calibri"/>
              </a:rPr>
              <a:t>ilişki, hepsi</a:t>
            </a:r>
          </a:p>
          <a:p>
            <a:pPr>
              <a:lnSpc>
                <a:spcPts val="1400"/>
              </a:lnSpc>
            </a:pPr>
            <a:r>
              <a:rPr sz="1100" b="0" i="0">
                <a:solidFill>
                  <a:srgbClr val="8A8F98"/>
                </a:solidFill>
                <a:latin typeface="Calibri"/>
              </a:rPr>
              <a:t>tek yön</a:t>
            </a:r>
          </a:p>
        </p:txBody>
      </p:sp>
      <p:sp>
        <p:nvSpPr>
          <p:cNvPr id="11" name="TextBox 10"/>
          <p:cNvSpPr txBox="1"/>
          <p:nvPr/>
        </p:nvSpPr>
        <p:spPr>
          <a:xfrm>
            <a:off x="8887968" y="3977639"/>
            <a:ext cx="914400" cy="457200"/>
          </a:xfrm>
          <a:prstGeom prst="rect">
            <a:avLst/>
          </a:prstGeom>
          <a:noFill/>
        </p:spPr>
        <p:txBody>
          <a:bodyPr wrap="square" lIns="0" rIns="0" tIns="0" bIns="0">
            <a:spAutoFit/>
          </a:bodyPr>
          <a:lstStyle/>
          <a:p>
            <a:r>
              <a:rPr sz="2500" b="1" i="0">
                <a:solidFill>
                  <a:srgbClr val="22252B"/>
                </a:solidFill>
                <a:latin typeface="Cambria"/>
              </a:rPr>
              <a:t>13</a:t>
            </a:r>
          </a:p>
        </p:txBody>
      </p:sp>
      <p:sp>
        <p:nvSpPr>
          <p:cNvPr id="12" name="TextBox 11"/>
          <p:cNvSpPr txBox="1"/>
          <p:nvPr/>
        </p:nvSpPr>
        <p:spPr>
          <a:xfrm>
            <a:off x="8887968" y="4398264"/>
            <a:ext cx="2468880" cy="411480"/>
          </a:xfrm>
          <a:prstGeom prst="rect">
            <a:avLst/>
          </a:prstGeom>
          <a:noFill/>
        </p:spPr>
        <p:txBody>
          <a:bodyPr wrap="square" lIns="0" rIns="0" tIns="0" bIns="0">
            <a:spAutoFit/>
          </a:bodyPr>
          <a:lstStyle/>
          <a:p>
            <a:pPr>
              <a:lnSpc>
                <a:spcPts val="1400"/>
              </a:lnSpc>
            </a:pPr>
            <a:r>
              <a:rPr sz="1100" b="0" i="0">
                <a:solidFill>
                  <a:srgbClr val="8A8F98"/>
                </a:solidFill>
                <a:latin typeface="Calibri"/>
              </a:rPr>
              <a:t>DAX ölçüsü</a:t>
            </a:r>
          </a:p>
        </p:txBody>
      </p:sp>
      <p:sp>
        <p:nvSpPr>
          <p:cNvPr id="13" name="TextBox 12"/>
          <p:cNvSpPr txBox="1"/>
          <p:nvPr/>
        </p:nvSpPr>
        <p:spPr>
          <a:xfrm>
            <a:off x="8887968" y="4892040"/>
            <a:ext cx="2468880" cy="822960"/>
          </a:xfrm>
          <a:prstGeom prst="rect">
            <a:avLst/>
          </a:prstGeom>
          <a:noFill/>
        </p:spPr>
        <p:txBody>
          <a:bodyPr wrap="square" lIns="0" rIns="0" tIns="0" bIns="0">
            <a:spAutoFit/>
          </a:bodyPr>
          <a:lstStyle/>
          <a:p>
            <a:pPr>
              <a:lnSpc>
                <a:spcPts val="1300"/>
              </a:lnSpc>
            </a:pPr>
            <a:r>
              <a:rPr sz="950" b="0" i="0">
                <a:solidFill>
                  <a:srgbClr val="8A8F98"/>
                </a:solidFill>
                <a:latin typeface="Calibri"/>
              </a:rPr>
              <a:t>İndirim oranı, toplam indirim / toplam liste fiyatı. Sözleşme bazlı oranların ortalaması değil: ortalama, 780 binlik bir hatchback ile 3,4 milyonluk bir SUV'u eşit sayar.</a:t>
            </a:r>
          </a:p>
        </p:txBody>
      </p:sp>
      <p:sp>
        <p:nvSpPr>
          <p:cNvPr id="14" name="TextBox 13"/>
          <p:cNvSpPr txBox="1"/>
          <p:nvPr/>
        </p:nvSpPr>
        <p:spPr>
          <a:xfrm>
            <a:off x="640080" y="5852160"/>
            <a:ext cx="7772400" cy="457200"/>
          </a:xfrm>
          <a:prstGeom prst="rect">
            <a:avLst/>
          </a:prstGeom>
          <a:noFill/>
        </p:spPr>
        <p:txBody>
          <a:bodyPr wrap="square" lIns="0" rIns="0" tIns="0" bIns="0">
            <a:spAutoFit/>
          </a:bodyPr>
          <a:lstStyle/>
          <a:p>
            <a:r>
              <a:rPr sz="1150" b="0" i="1">
                <a:solidFill>
                  <a:srgbClr val="8A8F98"/>
                </a:solidFill>
                <a:latin typeface="Calibri"/>
              </a:rPr>
              <a:t>Rapor Direct Lake ile çalışıyor: Warehouse'un altındaki Delta dosyaları doğrudan okunuyor — import yok, refresh yok.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PLATFORM</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Fabric'te kurulanlar</a:t>
            </a:r>
          </a:p>
        </p:txBody>
      </p:sp>
      <p:pic>
        <p:nvPicPr>
          <p:cNvPr id="4" name="Picture 3" descr="fabric_workspace.png"/>
          <p:cNvPicPr>
            <a:picLocks noChangeAspect="1"/>
          </p:cNvPicPr>
          <p:nvPr/>
        </p:nvPicPr>
        <p:blipFill>
          <a:blip r:embed="rId2"/>
          <a:stretch>
            <a:fillRect/>
          </a:stretch>
        </p:blipFill>
        <p:spPr>
          <a:xfrm>
            <a:off x="2100539" y="1554480"/>
            <a:ext cx="2885521" cy="3931920"/>
          </a:xfrm>
          <a:prstGeom prst="rect">
            <a:avLst/>
          </a:prstGeom>
        </p:spPr>
      </p:pic>
      <p:sp>
        <p:nvSpPr>
          <p:cNvPr id="5" name="TextBox 4"/>
          <p:cNvSpPr txBox="1"/>
          <p:nvPr/>
        </p:nvSpPr>
        <p:spPr>
          <a:xfrm>
            <a:off x="640080" y="5559552"/>
            <a:ext cx="5806440" cy="274320"/>
          </a:xfrm>
          <a:prstGeom prst="rect">
            <a:avLst/>
          </a:prstGeom>
          <a:noFill/>
        </p:spPr>
        <p:txBody>
          <a:bodyPr wrap="square" lIns="0" rIns="0" tIns="0" bIns="0">
            <a:spAutoFit/>
          </a:bodyPr>
          <a:lstStyle/>
          <a:p>
            <a:r>
              <a:rPr sz="1000" b="0" i="1">
                <a:solidFill>
                  <a:srgbClr val="8A8F98"/>
                </a:solidFill>
                <a:latin typeface="Calibri"/>
              </a:rPr>
              <a:t>mihenk çalışma alanı</a:t>
            </a:r>
          </a:p>
        </p:txBody>
      </p:sp>
      <p:sp>
        <p:nvSpPr>
          <p:cNvPr id="6" name="TextBox 5"/>
          <p:cNvSpPr txBox="1"/>
          <p:nvPr/>
        </p:nvSpPr>
        <p:spPr>
          <a:xfrm>
            <a:off x="6812280" y="1600200"/>
            <a:ext cx="2194560" cy="274320"/>
          </a:xfrm>
          <a:prstGeom prst="rect">
            <a:avLst/>
          </a:prstGeom>
          <a:noFill/>
        </p:spPr>
        <p:txBody>
          <a:bodyPr wrap="square" lIns="0" rIns="0" tIns="0" bIns="0">
            <a:spAutoFit/>
          </a:bodyPr>
          <a:lstStyle/>
          <a:p>
            <a:r>
              <a:rPr sz="1300" b="1" i="0">
                <a:solidFill>
                  <a:srgbClr val="BF5B26"/>
                </a:solidFill>
                <a:latin typeface="Calibri"/>
              </a:rPr>
              <a:t>Lakehouse</a:t>
            </a:r>
          </a:p>
        </p:txBody>
      </p:sp>
      <p:sp>
        <p:nvSpPr>
          <p:cNvPr id="7" name="TextBox 6"/>
          <p:cNvSpPr txBox="1"/>
          <p:nvPr/>
        </p:nvSpPr>
        <p:spPr>
          <a:xfrm>
            <a:off x="6812280" y="1874519"/>
            <a:ext cx="4754880" cy="502920"/>
          </a:xfrm>
          <a:prstGeom prst="rect">
            <a:avLst/>
          </a:prstGeom>
          <a:noFill/>
        </p:spPr>
        <p:txBody>
          <a:bodyPr wrap="square" lIns="0" rIns="0" tIns="0" bIns="0">
            <a:spAutoFit/>
          </a:bodyPr>
          <a:lstStyle/>
          <a:p>
            <a:pPr>
              <a:lnSpc>
                <a:spcPts val="1500"/>
              </a:lnSpc>
            </a:pPr>
            <a:r>
              <a:rPr sz="1150" b="0" i="0">
                <a:solidFill>
                  <a:srgbClr val="444B57"/>
                </a:solidFill>
                <a:latin typeface="Calibri"/>
              </a:rPr>
              <a:t>mihenk_lh — OneLake Files, Bronze ve Silver Delta tabloları</a:t>
            </a:r>
          </a:p>
        </p:txBody>
      </p:sp>
      <p:sp>
        <p:nvSpPr>
          <p:cNvPr id="8" name="TextBox 7"/>
          <p:cNvSpPr txBox="1"/>
          <p:nvPr/>
        </p:nvSpPr>
        <p:spPr>
          <a:xfrm>
            <a:off x="6812280" y="2441448"/>
            <a:ext cx="2194560" cy="274320"/>
          </a:xfrm>
          <a:prstGeom prst="rect">
            <a:avLst/>
          </a:prstGeom>
          <a:noFill/>
        </p:spPr>
        <p:txBody>
          <a:bodyPr wrap="square" lIns="0" rIns="0" tIns="0" bIns="0">
            <a:spAutoFit/>
          </a:bodyPr>
          <a:lstStyle/>
          <a:p>
            <a:r>
              <a:rPr sz="1300" b="1" i="0">
                <a:solidFill>
                  <a:srgbClr val="BF5B26"/>
                </a:solidFill>
                <a:latin typeface="Calibri"/>
              </a:rPr>
              <a:t>Warehouse</a:t>
            </a:r>
          </a:p>
        </p:txBody>
      </p:sp>
      <p:sp>
        <p:nvSpPr>
          <p:cNvPr id="9" name="TextBox 8"/>
          <p:cNvSpPr txBox="1"/>
          <p:nvPr/>
        </p:nvSpPr>
        <p:spPr>
          <a:xfrm>
            <a:off x="6812280" y="2715768"/>
            <a:ext cx="4754880" cy="502920"/>
          </a:xfrm>
          <a:prstGeom prst="rect">
            <a:avLst/>
          </a:prstGeom>
          <a:noFill/>
        </p:spPr>
        <p:txBody>
          <a:bodyPr wrap="square" lIns="0" rIns="0" tIns="0" bIns="0">
            <a:spAutoFit/>
          </a:bodyPr>
          <a:lstStyle/>
          <a:p>
            <a:pPr>
              <a:lnSpc>
                <a:spcPts val="1500"/>
              </a:lnSpc>
            </a:pPr>
            <a:r>
              <a:rPr sz="1150" b="0" i="0">
                <a:solidFill>
                  <a:srgbClr val="444B57"/>
                </a:solidFill>
                <a:latin typeface="Calibri"/>
              </a:rPr>
              <a:t>mihenk_wh — ctl kontrol düzlemi ve Gold yıldız şeması</a:t>
            </a:r>
          </a:p>
        </p:txBody>
      </p:sp>
      <p:sp>
        <p:nvSpPr>
          <p:cNvPr id="10" name="TextBox 9"/>
          <p:cNvSpPr txBox="1"/>
          <p:nvPr/>
        </p:nvSpPr>
        <p:spPr>
          <a:xfrm>
            <a:off x="6812280" y="3282696"/>
            <a:ext cx="2194560" cy="274320"/>
          </a:xfrm>
          <a:prstGeom prst="rect">
            <a:avLst/>
          </a:prstGeom>
          <a:noFill/>
        </p:spPr>
        <p:txBody>
          <a:bodyPr wrap="square" lIns="0" rIns="0" tIns="0" bIns="0">
            <a:spAutoFit/>
          </a:bodyPr>
          <a:lstStyle/>
          <a:p>
            <a:r>
              <a:rPr sz="1300" b="1" i="0">
                <a:solidFill>
                  <a:srgbClr val="BF5B26"/>
                </a:solidFill>
                <a:latin typeface="Calibri"/>
              </a:rPr>
              <a:t>Notebook</a:t>
            </a:r>
          </a:p>
        </p:txBody>
      </p:sp>
      <p:sp>
        <p:nvSpPr>
          <p:cNvPr id="11" name="TextBox 10"/>
          <p:cNvSpPr txBox="1"/>
          <p:nvPr/>
        </p:nvSpPr>
        <p:spPr>
          <a:xfrm>
            <a:off x="6812280" y="3557015"/>
            <a:ext cx="4754880" cy="502920"/>
          </a:xfrm>
          <a:prstGeom prst="rect">
            <a:avLst/>
          </a:prstGeom>
          <a:noFill/>
        </p:spPr>
        <p:txBody>
          <a:bodyPr wrap="square" lIns="0" rIns="0" tIns="0" bIns="0">
            <a:spAutoFit/>
          </a:bodyPr>
          <a:lstStyle/>
          <a:p>
            <a:pPr>
              <a:lnSpc>
                <a:spcPts val="1500"/>
              </a:lnSpc>
            </a:pPr>
            <a:r>
              <a:rPr sz="1150" b="0" i="0">
                <a:solidFill>
                  <a:srgbClr val="444B57"/>
                </a:solidFill>
                <a:latin typeface="Calibri"/>
              </a:rPr>
              <a:t>1 Bronze + 5 Silver: ortak fonksiyonlar, master, MDM, hareket, DQ</a:t>
            </a:r>
          </a:p>
        </p:txBody>
      </p:sp>
      <p:sp>
        <p:nvSpPr>
          <p:cNvPr id="12" name="TextBox 11"/>
          <p:cNvSpPr txBox="1"/>
          <p:nvPr/>
        </p:nvSpPr>
        <p:spPr>
          <a:xfrm>
            <a:off x="6812280" y="4123944"/>
            <a:ext cx="2194560" cy="274320"/>
          </a:xfrm>
          <a:prstGeom prst="rect">
            <a:avLst/>
          </a:prstGeom>
          <a:noFill/>
        </p:spPr>
        <p:txBody>
          <a:bodyPr wrap="square" lIns="0" rIns="0" tIns="0" bIns="0">
            <a:spAutoFit/>
          </a:bodyPr>
          <a:lstStyle/>
          <a:p>
            <a:r>
              <a:rPr sz="1300" b="1" i="0">
                <a:solidFill>
                  <a:srgbClr val="BF5B26"/>
                </a:solidFill>
                <a:latin typeface="Calibri"/>
              </a:rPr>
              <a:t>Data pipeline</a:t>
            </a:r>
          </a:p>
        </p:txBody>
      </p:sp>
      <p:sp>
        <p:nvSpPr>
          <p:cNvPr id="13" name="TextBox 12"/>
          <p:cNvSpPr txBox="1"/>
          <p:nvPr/>
        </p:nvSpPr>
        <p:spPr>
          <a:xfrm>
            <a:off x="6812280" y="4398264"/>
            <a:ext cx="4754880" cy="502920"/>
          </a:xfrm>
          <a:prstGeom prst="rect">
            <a:avLst/>
          </a:prstGeom>
          <a:noFill/>
        </p:spPr>
        <p:txBody>
          <a:bodyPr wrap="square" lIns="0" rIns="0" tIns="0" bIns="0">
            <a:spAutoFit/>
          </a:bodyPr>
          <a:lstStyle/>
          <a:p>
            <a:pPr>
              <a:lnSpc>
                <a:spcPts val="1500"/>
              </a:lnSpc>
            </a:pPr>
            <a:r>
              <a:rPr sz="1150" b="0" i="0">
                <a:solidFill>
                  <a:srgbClr val="444B57"/>
                </a:solidFill>
                <a:latin typeface="Calibri"/>
              </a:rPr>
              <a:t>pl_bronze_ingest — metadata ile yönetilen ingest</a:t>
            </a:r>
          </a:p>
        </p:txBody>
      </p:sp>
      <p:sp>
        <p:nvSpPr>
          <p:cNvPr id="14" name="TextBox 13"/>
          <p:cNvSpPr txBox="1"/>
          <p:nvPr/>
        </p:nvSpPr>
        <p:spPr>
          <a:xfrm>
            <a:off x="6812280" y="4965192"/>
            <a:ext cx="2194560" cy="274320"/>
          </a:xfrm>
          <a:prstGeom prst="rect">
            <a:avLst/>
          </a:prstGeom>
          <a:noFill/>
        </p:spPr>
        <p:txBody>
          <a:bodyPr wrap="square" lIns="0" rIns="0" tIns="0" bIns="0">
            <a:spAutoFit/>
          </a:bodyPr>
          <a:lstStyle/>
          <a:p>
            <a:r>
              <a:rPr sz="1300" b="1" i="0">
                <a:solidFill>
                  <a:srgbClr val="BF5B26"/>
                </a:solidFill>
                <a:latin typeface="Calibri"/>
              </a:rPr>
              <a:t>Semantik model</a:t>
            </a:r>
          </a:p>
        </p:txBody>
      </p:sp>
      <p:sp>
        <p:nvSpPr>
          <p:cNvPr id="15" name="TextBox 14"/>
          <p:cNvSpPr txBox="1"/>
          <p:nvPr/>
        </p:nvSpPr>
        <p:spPr>
          <a:xfrm>
            <a:off x="6812280" y="5239512"/>
            <a:ext cx="4754880" cy="502920"/>
          </a:xfrm>
          <a:prstGeom prst="rect">
            <a:avLst/>
          </a:prstGeom>
          <a:noFill/>
        </p:spPr>
        <p:txBody>
          <a:bodyPr wrap="square" lIns="0" rIns="0" tIns="0" bIns="0">
            <a:spAutoFit/>
          </a:bodyPr>
          <a:lstStyle/>
          <a:p>
            <a:pPr>
              <a:lnSpc>
                <a:spcPts val="1500"/>
              </a:lnSpc>
            </a:pPr>
            <a:r>
              <a:rPr sz="1150" b="0" i="0">
                <a:solidFill>
                  <a:srgbClr val="444B57"/>
                </a:solidFill>
                <a:latin typeface="Calibri"/>
              </a:rPr>
              <a:t>MIHENK — Direct Lake, rapor bunun üzerinde duruyor</a:t>
            </a:r>
          </a:p>
        </p:txBody>
      </p:sp>
      <p:sp>
        <p:nvSpPr>
          <p:cNvPr id="16" name="TextBox 15"/>
          <p:cNvSpPr txBox="1"/>
          <p:nvPr/>
        </p:nvSpPr>
        <p:spPr>
          <a:xfrm>
            <a:off x="640080" y="5852160"/>
            <a:ext cx="10881360" cy="548640"/>
          </a:xfrm>
          <a:prstGeom prst="rect">
            <a:avLst/>
          </a:prstGeom>
          <a:noFill/>
        </p:spPr>
        <p:txBody>
          <a:bodyPr wrap="square" lIns="0" rIns="0" tIns="0" bIns="0">
            <a:spAutoFit/>
          </a:bodyPr>
          <a:lstStyle/>
          <a:p>
            <a:r>
              <a:rPr sz="1150" b="0" i="1">
                <a:solidFill>
                  <a:srgbClr val="8A8F98"/>
                </a:solidFill>
                <a:latin typeface="Calibri"/>
              </a:rPr>
              <a:t>Kapasite: Azure pay-as-you-go F2. Fabric Trial bu kiracı için reddedildiği için ücretli kapasite kuruldu ve çalışılmadığı sürelerde duraklatıldı — maliyet de bir mimari karar.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r>
              <a:rPr sz="1150" b="1" i="0">
                <a:solidFill>
                  <a:srgbClr val="BF5B26"/>
                </a:solidFill>
                <a:latin typeface="Calibri"/>
              </a:rPr>
              <a:t>BULGULAR</a:t>
            </a:r>
          </a:p>
        </p:txBody>
      </p:sp>
      <p:sp>
        <p:nvSpPr>
          <p:cNvPr id="3" name="TextBox 2"/>
          <p:cNvSpPr txBox="1"/>
          <p:nvPr/>
        </p:nvSpPr>
        <p:spPr>
          <a:xfrm>
            <a:off x="640080" y="713232"/>
            <a:ext cx="10911535" cy="640080"/>
          </a:xfrm>
          <a:prstGeom prst="rect">
            <a:avLst/>
          </a:prstGeom>
          <a:noFill/>
        </p:spPr>
        <p:txBody>
          <a:bodyPr wrap="square" lIns="0" rIns="0" tIns="0" bIns="0">
            <a:spAutoFit/>
          </a:bodyPr>
          <a:lstStyle/>
          <a:p>
            <a:r>
              <a:rPr sz="3200" b="1" i="0">
                <a:solidFill>
                  <a:srgbClr val="22252B"/>
                </a:solidFill>
                <a:latin typeface="Cambria"/>
              </a:rPr>
              <a:t>Gerçekten çalıştırınca çıkanlar</a:t>
            </a:r>
          </a:p>
        </p:txBody>
      </p:sp>
      <p:sp>
        <p:nvSpPr>
          <p:cNvPr id="4" name="TextBox 3"/>
          <p:cNvSpPr txBox="1"/>
          <p:nvPr/>
        </p:nvSpPr>
        <p:spPr>
          <a:xfrm>
            <a:off x="640080" y="1536192"/>
            <a:ext cx="10881360" cy="548640"/>
          </a:xfrm>
          <a:prstGeom prst="rect">
            <a:avLst/>
          </a:prstGeom>
          <a:noFill/>
        </p:spPr>
        <p:txBody>
          <a:bodyPr wrap="square" lIns="0" rIns="0" tIns="0" bIns="0">
            <a:spAutoFit/>
          </a:bodyPr>
          <a:lstStyle/>
          <a:p>
            <a:pPr>
              <a:lnSpc>
                <a:spcPts val="2000"/>
              </a:lnSpc>
            </a:pPr>
            <a:r>
              <a:rPr sz="1350" b="0" i="0">
                <a:solidFill>
                  <a:srgbClr val="444B57"/>
                </a:solidFill>
                <a:latin typeface="Calibri"/>
              </a:rPr>
              <a:t>Kod yazıldıktan sonra gerçek bir Fabric kapasitesinde uçtan uca çalıştırıldı. 18 gerçek kusur çıktı — hiçbiri kod okuyarak ya da yerel testle görünmüyordu.</a:t>
            </a:r>
          </a:p>
        </p:txBody>
      </p:sp>
      <p:sp>
        <p:nvSpPr>
          <p:cNvPr id="5" name="TextBox 4"/>
          <p:cNvSpPr txBox="1"/>
          <p:nvPr/>
        </p:nvSpPr>
        <p:spPr>
          <a:xfrm>
            <a:off x="640080" y="2267712"/>
            <a:ext cx="411480" cy="274320"/>
          </a:xfrm>
          <a:prstGeom prst="rect">
            <a:avLst/>
          </a:prstGeom>
          <a:noFill/>
        </p:spPr>
        <p:txBody>
          <a:bodyPr wrap="square" lIns="0" rIns="0" tIns="0" bIns="0">
            <a:spAutoFit/>
          </a:bodyPr>
          <a:lstStyle/>
          <a:p>
            <a:r>
              <a:rPr sz="1300" b="1" i="0">
                <a:solidFill>
                  <a:srgbClr val="BF5B26"/>
                </a:solidFill>
                <a:latin typeface="Cambria"/>
              </a:rPr>
              <a:t>01</a:t>
            </a:r>
          </a:p>
        </p:txBody>
      </p:sp>
      <p:sp>
        <p:nvSpPr>
          <p:cNvPr id="6" name="TextBox 5"/>
          <p:cNvSpPr txBox="1"/>
          <p:nvPr/>
        </p:nvSpPr>
        <p:spPr>
          <a:xfrm>
            <a:off x="1097280" y="2267712"/>
            <a:ext cx="4572000" cy="548640"/>
          </a:xfrm>
          <a:prstGeom prst="rect">
            <a:avLst/>
          </a:prstGeom>
          <a:noFill/>
        </p:spPr>
        <p:txBody>
          <a:bodyPr wrap="square" lIns="0" rIns="0" tIns="0" bIns="0">
            <a:spAutoFit/>
          </a:bodyPr>
          <a:lstStyle/>
          <a:p>
            <a:pPr>
              <a:lnSpc>
                <a:spcPts val="1500"/>
              </a:lnSpc>
            </a:pPr>
            <a:r>
              <a:rPr sz="1200" b="1" i="0">
                <a:solidFill>
                  <a:srgbClr val="22252B"/>
                </a:solidFill>
                <a:latin typeface="Calibri"/>
              </a:rPr>
              <a:t>Sentinel satır iki fact tablosunu sessizce ikiye katladı</a:t>
            </a:r>
          </a:p>
        </p:txBody>
      </p:sp>
      <p:sp>
        <p:nvSpPr>
          <p:cNvPr id="7" name="TextBox 6"/>
          <p:cNvSpPr txBox="1"/>
          <p:nvPr/>
        </p:nvSpPr>
        <p:spPr>
          <a:xfrm>
            <a:off x="5760720" y="2267712"/>
            <a:ext cx="5806440" cy="685800"/>
          </a:xfrm>
          <a:prstGeom prst="rect">
            <a:avLst/>
          </a:prstGeom>
          <a:noFill/>
        </p:spPr>
        <p:txBody>
          <a:bodyPr wrap="square" lIns="0" rIns="0" tIns="0" bIns="0">
            <a:spAutoFit/>
          </a:bodyPr>
          <a:lstStyle/>
          <a:p>
            <a:pPr>
              <a:lnSpc>
                <a:spcPts val="1400"/>
              </a:lnSpc>
            </a:pPr>
            <a:r>
              <a:rPr sz="1050" b="0" i="0">
                <a:solidFill>
                  <a:srgbClr val="8A8F98"/>
                </a:solidFill>
                <a:latin typeface="Calibri"/>
              </a:rPr>
              <a:t>dim_transaction_flag'in “Bilinmiyor” satırı, gerçek bir bayrak kombinasyonuyla birebir aynı değerlerle üretilmişti. Doğal anahtar üzerinden JOIN ikisini birden eşleştirdi.</a:t>
            </a:r>
          </a:p>
        </p:txBody>
      </p:sp>
      <p:sp>
        <p:nvSpPr>
          <p:cNvPr id="8" name="TextBox 7"/>
          <p:cNvSpPr txBox="1"/>
          <p:nvPr/>
        </p:nvSpPr>
        <p:spPr>
          <a:xfrm>
            <a:off x="640080" y="3035808"/>
            <a:ext cx="411480" cy="274320"/>
          </a:xfrm>
          <a:prstGeom prst="rect">
            <a:avLst/>
          </a:prstGeom>
          <a:noFill/>
        </p:spPr>
        <p:txBody>
          <a:bodyPr wrap="square" lIns="0" rIns="0" tIns="0" bIns="0">
            <a:spAutoFit/>
          </a:bodyPr>
          <a:lstStyle/>
          <a:p>
            <a:r>
              <a:rPr sz="1300" b="1" i="0">
                <a:solidFill>
                  <a:srgbClr val="BF5B26"/>
                </a:solidFill>
                <a:latin typeface="Cambria"/>
              </a:rPr>
              <a:t>02</a:t>
            </a:r>
          </a:p>
        </p:txBody>
      </p:sp>
      <p:sp>
        <p:nvSpPr>
          <p:cNvPr id="9" name="TextBox 8"/>
          <p:cNvSpPr txBox="1"/>
          <p:nvPr/>
        </p:nvSpPr>
        <p:spPr>
          <a:xfrm>
            <a:off x="1097280" y="3035808"/>
            <a:ext cx="4572000" cy="548640"/>
          </a:xfrm>
          <a:prstGeom prst="rect">
            <a:avLst/>
          </a:prstGeom>
          <a:noFill/>
        </p:spPr>
        <p:txBody>
          <a:bodyPr wrap="square" lIns="0" rIns="0" tIns="0" bIns="0">
            <a:spAutoFit/>
          </a:bodyPr>
          <a:lstStyle/>
          <a:p>
            <a:pPr>
              <a:lnSpc>
                <a:spcPts val="1500"/>
              </a:lnSpc>
            </a:pPr>
            <a:r>
              <a:rPr sz="1200" b="1" i="0">
                <a:solidFill>
                  <a:srgbClr val="22252B"/>
                </a:solidFill>
                <a:latin typeface="Calibri"/>
              </a:rPr>
              <a:t>Notebook üretim script'i %run satırını yorum bıraktı</a:t>
            </a:r>
          </a:p>
        </p:txBody>
      </p:sp>
      <p:sp>
        <p:nvSpPr>
          <p:cNvPr id="10" name="TextBox 9"/>
          <p:cNvSpPr txBox="1"/>
          <p:nvPr/>
        </p:nvSpPr>
        <p:spPr>
          <a:xfrm>
            <a:off x="5760720" y="3035808"/>
            <a:ext cx="5806440" cy="685800"/>
          </a:xfrm>
          <a:prstGeom prst="rect">
            <a:avLst/>
          </a:prstGeom>
          <a:noFill/>
        </p:spPr>
        <p:txBody>
          <a:bodyPr wrap="square" lIns="0" rIns="0" tIns="0" bIns="0">
            <a:spAutoFit/>
          </a:bodyPr>
          <a:lstStyle/>
          <a:p>
            <a:pPr>
              <a:lnSpc>
                <a:spcPts val="1400"/>
              </a:lnSpc>
            </a:pPr>
            <a:r>
              <a:rPr sz="1050" b="0" i="0">
                <a:solidFill>
                  <a:srgbClr val="8A8F98"/>
                </a:solidFill>
                <a:latin typeface="Calibri"/>
              </a:rPr>
              <a:t>Ortak fonksiyonları yükleyen satır .ipynb'ye yorum olarak yazılmıştı. Dört kritik fonksiyon hiç tanımlanmadı — dosya “çalıştı”, içi boştu.</a:t>
            </a:r>
          </a:p>
        </p:txBody>
      </p:sp>
      <p:sp>
        <p:nvSpPr>
          <p:cNvPr id="11" name="TextBox 10"/>
          <p:cNvSpPr txBox="1"/>
          <p:nvPr/>
        </p:nvSpPr>
        <p:spPr>
          <a:xfrm>
            <a:off x="640080" y="3803904"/>
            <a:ext cx="411480" cy="274320"/>
          </a:xfrm>
          <a:prstGeom prst="rect">
            <a:avLst/>
          </a:prstGeom>
          <a:noFill/>
        </p:spPr>
        <p:txBody>
          <a:bodyPr wrap="square" lIns="0" rIns="0" tIns="0" bIns="0">
            <a:spAutoFit/>
          </a:bodyPr>
          <a:lstStyle/>
          <a:p>
            <a:r>
              <a:rPr sz="1300" b="1" i="0">
                <a:solidFill>
                  <a:srgbClr val="BF5B26"/>
                </a:solidFill>
                <a:latin typeface="Cambria"/>
              </a:rPr>
              <a:t>03</a:t>
            </a:r>
          </a:p>
        </p:txBody>
      </p:sp>
      <p:sp>
        <p:nvSpPr>
          <p:cNvPr id="12" name="TextBox 11"/>
          <p:cNvSpPr txBox="1"/>
          <p:nvPr/>
        </p:nvSpPr>
        <p:spPr>
          <a:xfrm>
            <a:off x="1097280" y="3803904"/>
            <a:ext cx="4572000" cy="548640"/>
          </a:xfrm>
          <a:prstGeom prst="rect">
            <a:avLst/>
          </a:prstGeom>
          <a:noFill/>
        </p:spPr>
        <p:txBody>
          <a:bodyPr wrap="square" lIns="0" rIns="0" tIns="0" bIns="0">
            <a:spAutoFit/>
          </a:bodyPr>
          <a:lstStyle/>
          <a:p>
            <a:pPr>
              <a:lnSpc>
                <a:spcPts val="1500"/>
              </a:lnSpc>
            </a:pPr>
            <a:r>
              <a:rPr sz="1200" b="1" i="0">
                <a:solidFill>
                  <a:srgbClr val="22252B"/>
                </a:solidFill>
                <a:latin typeface="Calibri"/>
              </a:rPr>
              <a:t>Fabric Warehouse geçici tabloya INSERT kabul etmiyor</a:t>
            </a:r>
          </a:p>
        </p:txBody>
      </p:sp>
      <p:sp>
        <p:nvSpPr>
          <p:cNvPr id="13" name="TextBox 12"/>
          <p:cNvSpPr txBox="1"/>
          <p:nvPr/>
        </p:nvSpPr>
        <p:spPr>
          <a:xfrm>
            <a:off x="5760720" y="3803904"/>
            <a:ext cx="5806440" cy="685800"/>
          </a:xfrm>
          <a:prstGeom prst="rect">
            <a:avLst/>
          </a:prstGeom>
          <a:noFill/>
        </p:spPr>
        <p:txBody>
          <a:bodyPr wrap="square" lIns="0" rIns="0" tIns="0" bIns="0">
            <a:spAutoFit/>
          </a:bodyPr>
          <a:lstStyle/>
          <a:p>
            <a:pPr>
              <a:lnSpc>
                <a:spcPts val="1400"/>
              </a:lnSpc>
            </a:pPr>
            <a:r>
              <a:rPr sz="1050" b="0" i="0">
                <a:solidFill>
                  <a:srgbClr val="8A8F98"/>
                </a:solidFill>
                <a:latin typeface="Calibri"/>
              </a:rPr>
              <a:t>CREATE TABLE #t + INSERT INTO #t reddediliyor, yalnız SELECT ... INTO #t çalışıyor. Gold'daki yükleme prosedürlerinin neredeyse hepsi bu kalıbı kullanıyordu.</a:t>
            </a:r>
          </a:p>
        </p:txBody>
      </p:sp>
      <p:sp>
        <p:nvSpPr>
          <p:cNvPr id="14" name="TextBox 13"/>
          <p:cNvSpPr txBox="1"/>
          <p:nvPr/>
        </p:nvSpPr>
        <p:spPr>
          <a:xfrm>
            <a:off x="640080" y="4572000"/>
            <a:ext cx="411480" cy="274320"/>
          </a:xfrm>
          <a:prstGeom prst="rect">
            <a:avLst/>
          </a:prstGeom>
          <a:noFill/>
        </p:spPr>
        <p:txBody>
          <a:bodyPr wrap="square" lIns="0" rIns="0" tIns="0" bIns="0">
            <a:spAutoFit/>
          </a:bodyPr>
          <a:lstStyle/>
          <a:p>
            <a:r>
              <a:rPr sz="1300" b="1" i="0">
                <a:solidFill>
                  <a:srgbClr val="BF5B26"/>
                </a:solidFill>
                <a:latin typeface="Cambria"/>
              </a:rPr>
              <a:t>04</a:t>
            </a:r>
          </a:p>
        </p:txBody>
      </p:sp>
      <p:sp>
        <p:nvSpPr>
          <p:cNvPr id="15" name="TextBox 14"/>
          <p:cNvSpPr txBox="1"/>
          <p:nvPr/>
        </p:nvSpPr>
        <p:spPr>
          <a:xfrm>
            <a:off x="1097280" y="4572000"/>
            <a:ext cx="4572000" cy="548640"/>
          </a:xfrm>
          <a:prstGeom prst="rect">
            <a:avLst/>
          </a:prstGeom>
          <a:noFill/>
        </p:spPr>
        <p:txBody>
          <a:bodyPr wrap="square" lIns="0" rIns="0" tIns="0" bIns="0">
            <a:spAutoFit/>
          </a:bodyPr>
          <a:lstStyle/>
          <a:p>
            <a:pPr>
              <a:lnSpc>
                <a:spcPts val="1500"/>
              </a:lnSpc>
            </a:pPr>
            <a:r>
              <a:rPr sz="1200" b="1" i="0">
                <a:solidFill>
                  <a:srgbClr val="22252B"/>
                </a:solidFill>
                <a:latin typeface="Calibri"/>
              </a:rPr>
              <a:t>DQ kuralları tek motora bağlıymış</a:t>
            </a:r>
          </a:p>
        </p:txBody>
      </p:sp>
      <p:sp>
        <p:nvSpPr>
          <p:cNvPr id="16" name="TextBox 15"/>
          <p:cNvSpPr txBox="1"/>
          <p:nvPr/>
        </p:nvSpPr>
        <p:spPr>
          <a:xfrm>
            <a:off x="5760720" y="4572000"/>
            <a:ext cx="5806440" cy="685800"/>
          </a:xfrm>
          <a:prstGeom prst="rect">
            <a:avLst/>
          </a:prstGeom>
          <a:noFill/>
        </p:spPr>
        <p:txBody>
          <a:bodyPr wrap="square" lIns="0" rIns="0" tIns="0" bIns="0">
            <a:spAutoFit/>
          </a:bodyPr>
          <a:lstStyle/>
          <a:p>
            <a:pPr>
              <a:lnSpc>
                <a:spcPts val="1400"/>
              </a:lnSpc>
            </a:pPr>
            <a:r>
              <a:rPr sz="1050" b="0" i="0">
                <a:solidFill>
                  <a:srgbClr val="8A8F98"/>
                </a:solidFill>
                <a:latin typeface="Calibri"/>
              </a:rPr>
              <a:t>ISNULL(a,b) ve CONVERT(...) T-SQL'e özgü. “Motordan bağımsız kurallar” hedefi Spark tarafında 13 kuralı düşürdü; taşınabilir karşılıklarıyla değiştirildi.</a:t>
            </a:r>
          </a:p>
        </p:txBody>
      </p:sp>
      <p:sp>
        <p:nvSpPr>
          <p:cNvPr id="17" name="TextBox 16"/>
          <p:cNvSpPr txBox="1"/>
          <p:nvPr/>
        </p:nvSpPr>
        <p:spPr>
          <a:xfrm>
            <a:off x="640080" y="5340096"/>
            <a:ext cx="411480" cy="274320"/>
          </a:xfrm>
          <a:prstGeom prst="rect">
            <a:avLst/>
          </a:prstGeom>
          <a:noFill/>
        </p:spPr>
        <p:txBody>
          <a:bodyPr wrap="square" lIns="0" rIns="0" tIns="0" bIns="0">
            <a:spAutoFit/>
          </a:bodyPr>
          <a:lstStyle/>
          <a:p>
            <a:r>
              <a:rPr sz="1300" b="1" i="0">
                <a:solidFill>
                  <a:srgbClr val="BF5B26"/>
                </a:solidFill>
                <a:latin typeface="Cambria"/>
              </a:rPr>
              <a:t>05</a:t>
            </a:r>
          </a:p>
        </p:txBody>
      </p:sp>
      <p:sp>
        <p:nvSpPr>
          <p:cNvPr id="18" name="TextBox 17"/>
          <p:cNvSpPr txBox="1"/>
          <p:nvPr/>
        </p:nvSpPr>
        <p:spPr>
          <a:xfrm>
            <a:off x="1097280" y="5340096"/>
            <a:ext cx="4572000" cy="548640"/>
          </a:xfrm>
          <a:prstGeom prst="rect">
            <a:avLst/>
          </a:prstGeom>
          <a:noFill/>
        </p:spPr>
        <p:txBody>
          <a:bodyPr wrap="square" lIns="0" rIns="0" tIns="0" bIns="0">
            <a:spAutoFit/>
          </a:bodyPr>
          <a:lstStyle/>
          <a:p>
            <a:pPr>
              <a:lnSpc>
                <a:spcPts val="1500"/>
              </a:lnSpc>
            </a:pPr>
            <a:r>
              <a:rPr sz="1200" b="1" i="0">
                <a:solidFill>
                  <a:srgbClr val="22252B"/>
                </a:solidFill>
                <a:latin typeface="Calibri"/>
              </a:rPr>
              <a:t>Zorlanmayan kısıtlar gerçek bir bozulmayı gizliyordu</a:t>
            </a:r>
          </a:p>
        </p:txBody>
      </p:sp>
      <p:sp>
        <p:nvSpPr>
          <p:cNvPr id="19" name="TextBox 18"/>
          <p:cNvSpPr txBox="1"/>
          <p:nvPr/>
        </p:nvSpPr>
        <p:spPr>
          <a:xfrm>
            <a:off x="5760720" y="5340096"/>
            <a:ext cx="5806440" cy="685800"/>
          </a:xfrm>
          <a:prstGeom prst="rect">
            <a:avLst/>
          </a:prstGeom>
          <a:noFill/>
        </p:spPr>
        <p:txBody>
          <a:bodyPr wrap="square" lIns="0" rIns="0" tIns="0" bIns="0">
            <a:spAutoFit/>
          </a:bodyPr>
          <a:lstStyle/>
          <a:p>
            <a:pPr>
              <a:lnSpc>
                <a:spcPts val="1400"/>
              </a:lnSpc>
            </a:pPr>
            <a:r>
              <a:rPr sz="1050" b="0" i="0">
                <a:solidFill>
                  <a:srgbClr val="8A8F98"/>
                </a:solidFill>
                <a:latin typeface="Calibri"/>
              </a:rPr>
              <a:t>Fabric'te birincil anahtarlar NOT ENFORCED. Aynı DDL yerel SQL Server'da çalıştırılınca dim_date'te mükerrer bir takvim günü ortaya çıktı — Fabric sessizce kabul ederdi.</a:t>
            </a:r>
          </a:p>
        </p:txBody>
      </p:sp>
      <p:sp>
        <p:nvSpPr>
          <p:cNvPr id="20" name="TextBox 19"/>
          <p:cNvSpPr txBox="1"/>
          <p:nvPr/>
        </p:nvSpPr>
        <p:spPr>
          <a:xfrm>
            <a:off x="640080" y="6172200"/>
            <a:ext cx="10881360" cy="457200"/>
          </a:xfrm>
          <a:prstGeom prst="rect">
            <a:avLst/>
          </a:prstGeom>
          <a:noFill/>
        </p:spPr>
        <p:txBody>
          <a:bodyPr wrap="square" lIns="0" rIns="0" tIns="0" bIns="0">
            <a:spAutoFit/>
          </a:bodyPr>
          <a:lstStyle/>
          <a:p>
            <a:r>
              <a:rPr sz="1150" b="0" i="1">
                <a:solidFill>
                  <a:srgbClr val="444B57"/>
                </a:solidFill>
                <a:latin typeface="Calibri"/>
              </a:rPr>
              <a:t>Hepsi düzeltildi ve nedeniyle birlikte kaydedildi. Bu liste projenin zayıf tarafı değil; çalıştırmadan “çalışıyor” demenin ne kadar boş bir cümle olduğunun kanıtı.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2252B"/>
        </a:solidFill>
        <a:effectLst/>
      </p:bgPr>
    </p:bg>
    <p:spTree>
      <p:nvGrpSpPr>
        <p:cNvPr id="1" name=""/>
        <p:cNvGrpSpPr/>
        <p:nvPr/>
      </p:nvGrpSpPr>
      <p:grpSpPr/>
      <p:sp>
        <p:nvSpPr>
          <p:cNvPr id="2" name="TextBox 1"/>
          <p:cNvSpPr txBox="1"/>
          <p:nvPr/>
        </p:nvSpPr>
        <p:spPr>
          <a:xfrm>
            <a:off x="640080" y="777240"/>
            <a:ext cx="7315200" cy="274320"/>
          </a:xfrm>
          <a:prstGeom prst="rect">
            <a:avLst/>
          </a:prstGeom>
          <a:noFill/>
        </p:spPr>
        <p:txBody>
          <a:bodyPr wrap="square" lIns="0" rIns="0" tIns="0" bIns="0">
            <a:spAutoFit/>
          </a:bodyPr>
          <a:lstStyle/>
          <a:p>
            <a:r>
              <a:rPr sz="1150" b="1" i="0">
                <a:solidFill>
                  <a:srgbClr val="BF5B26"/>
                </a:solidFill>
                <a:latin typeface="Calibri"/>
              </a:rPr>
              <a:t>RAKAMLARLA</a:t>
            </a:r>
          </a:p>
        </p:txBody>
      </p:sp>
      <p:sp>
        <p:nvSpPr>
          <p:cNvPr id="3" name="TextBox 2"/>
          <p:cNvSpPr txBox="1"/>
          <p:nvPr/>
        </p:nvSpPr>
        <p:spPr>
          <a:xfrm>
            <a:off x="640080" y="1097280"/>
            <a:ext cx="10058400" cy="731520"/>
          </a:xfrm>
          <a:prstGeom prst="rect">
            <a:avLst/>
          </a:prstGeom>
          <a:noFill/>
        </p:spPr>
        <p:txBody>
          <a:bodyPr wrap="square" lIns="0" rIns="0" tIns="0" bIns="0">
            <a:spAutoFit/>
          </a:bodyPr>
          <a:lstStyle/>
          <a:p>
            <a:r>
              <a:rPr sz="3400" b="1" i="0">
                <a:solidFill>
                  <a:srgbClr val="FFFFFF"/>
                </a:solidFill>
                <a:latin typeface="Cambria"/>
              </a:rPr>
              <a:t>Uçtan uca çalışan platform</a:t>
            </a:r>
          </a:p>
        </p:txBody>
      </p:sp>
      <p:sp>
        <p:nvSpPr>
          <p:cNvPr id="4" name="TextBox 3"/>
          <p:cNvSpPr txBox="1"/>
          <p:nvPr/>
        </p:nvSpPr>
        <p:spPr>
          <a:xfrm>
            <a:off x="640080" y="2240280"/>
            <a:ext cx="2560320" cy="548640"/>
          </a:xfrm>
          <a:prstGeom prst="rect">
            <a:avLst/>
          </a:prstGeom>
          <a:noFill/>
        </p:spPr>
        <p:txBody>
          <a:bodyPr wrap="square" lIns="0" rIns="0" tIns="0" bIns="0">
            <a:spAutoFit/>
          </a:bodyPr>
          <a:lstStyle/>
          <a:p>
            <a:r>
              <a:rPr sz="3200" b="1" i="0">
                <a:solidFill>
                  <a:srgbClr val="FFFFFF"/>
                </a:solidFill>
                <a:latin typeface="Cambria"/>
              </a:rPr>
              <a:t>6</a:t>
            </a:r>
          </a:p>
        </p:txBody>
      </p:sp>
      <p:sp>
        <p:nvSpPr>
          <p:cNvPr id="5" name="TextBox 4"/>
          <p:cNvSpPr txBox="1"/>
          <p:nvPr/>
        </p:nvSpPr>
        <p:spPr>
          <a:xfrm>
            <a:off x="640080" y="2807208"/>
            <a:ext cx="2560320" cy="320040"/>
          </a:xfrm>
          <a:prstGeom prst="rect">
            <a:avLst/>
          </a:prstGeom>
          <a:noFill/>
        </p:spPr>
        <p:txBody>
          <a:bodyPr wrap="square" lIns="0" rIns="0" tIns="0" bIns="0">
            <a:spAutoFit/>
          </a:bodyPr>
          <a:lstStyle/>
          <a:p>
            <a:r>
              <a:rPr sz="1200" b="0" i="0">
                <a:solidFill>
                  <a:srgbClr val="9AA0A8"/>
                </a:solidFill>
                <a:latin typeface="Calibri"/>
              </a:rPr>
              <a:t>kaynak sistem</a:t>
            </a:r>
          </a:p>
        </p:txBody>
      </p:sp>
      <p:sp>
        <p:nvSpPr>
          <p:cNvPr id="6" name="TextBox 5"/>
          <p:cNvSpPr txBox="1"/>
          <p:nvPr/>
        </p:nvSpPr>
        <p:spPr>
          <a:xfrm>
            <a:off x="3383280" y="2240280"/>
            <a:ext cx="2560320" cy="548640"/>
          </a:xfrm>
          <a:prstGeom prst="rect">
            <a:avLst/>
          </a:prstGeom>
          <a:noFill/>
        </p:spPr>
        <p:txBody>
          <a:bodyPr wrap="square" lIns="0" rIns="0" tIns="0" bIns="0">
            <a:spAutoFit/>
          </a:bodyPr>
          <a:lstStyle/>
          <a:p>
            <a:r>
              <a:rPr sz="3200" b="1" i="0">
                <a:solidFill>
                  <a:srgbClr val="FFFFFF"/>
                </a:solidFill>
                <a:latin typeface="Cambria"/>
              </a:rPr>
              <a:t>17</a:t>
            </a:r>
          </a:p>
        </p:txBody>
      </p:sp>
      <p:sp>
        <p:nvSpPr>
          <p:cNvPr id="7" name="TextBox 6"/>
          <p:cNvSpPr txBox="1"/>
          <p:nvPr/>
        </p:nvSpPr>
        <p:spPr>
          <a:xfrm>
            <a:off x="3383280" y="2807208"/>
            <a:ext cx="2560320" cy="320040"/>
          </a:xfrm>
          <a:prstGeom prst="rect">
            <a:avLst/>
          </a:prstGeom>
          <a:noFill/>
        </p:spPr>
        <p:txBody>
          <a:bodyPr wrap="square" lIns="0" rIns="0" tIns="0" bIns="0">
            <a:spAutoFit/>
          </a:bodyPr>
          <a:lstStyle/>
          <a:p>
            <a:r>
              <a:rPr sz="1200" b="0" i="0">
                <a:solidFill>
                  <a:srgbClr val="9AA0A8"/>
                </a:solidFill>
                <a:latin typeface="Calibri"/>
              </a:rPr>
              <a:t>veri varlığı</a:t>
            </a:r>
          </a:p>
        </p:txBody>
      </p:sp>
      <p:sp>
        <p:nvSpPr>
          <p:cNvPr id="8" name="TextBox 7"/>
          <p:cNvSpPr txBox="1"/>
          <p:nvPr/>
        </p:nvSpPr>
        <p:spPr>
          <a:xfrm>
            <a:off x="6126480" y="2240280"/>
            <a:ext cx="2560320" cy="548640"/>
          </a:xfrm>
          <a:prstGeom prst="rect">
            <a:avLst/>
          </a:prstGeom>
          <a:noFill/>
        </p:spPr>
        <p:txBody>
          <a:bodyPr wrap="square" lIns="0" rIns="0" tIns="0" bIns="0">
            <a:spAutoFit/>
          </a:bodyPr>
          <a:lstStyle/>
          <a:p>
            <a:r>
              <a:rPr sz="3200" b="1" i="0">
                <a:solidFill>
                  <a:srgbClr val="FFFFFF"/>
                </a:solidFill>
                <a:latin typeface="Cambria"/>
              </a:rPr>
              <a:t>1,07 M</a:t>
            </a:r>
          </a:p>
        </p:txBody>
      </p:sp>
      <p:sp>
        <p:nvSpPr>
          <p:cNvPr id="9" name="TextBox 8"/>
          <p:cNvSpPr txBox="1"/>
          <p:nvPr/>
        </p:nvSpPr>
        <p:spPr>
          <a:xfrm>
            <a:off x="6126480" y="2807208"/>
            <a:ext cx="2560320" cy="320040"/>
          </a:xfrm>
          <a:prstGeom prst="rect">
            <a:avLst/>
          </a:prstGeom>
          <a:noFill/>
        </p:spPr>
        <p:txBody>
          <a:bodyPr wrap="square" lIns="0" rIns="0" tIns="0" bIns="0">
            <a:spAutoFit/>
          </a:bodyPr>
          <a:lstStyle/>
          <a:p>
            <a:r>
              <a:rPr sz="1200" b="0" i="0">
                <a:solidFill>
                  <a:srgbClr val="9AA0A8"/>
                </a:solidFill>
                <a:latin typeface="Calibri"/>
              </a:rPr>
              <a:t>Bronze satırı</a:t>
            </a:r>
          </a:p>
        </p:txBody>
      </p:sp>
      <p:sp>
        <p:nvSpPr>
          <p:cNvPr id="10" name="TextBox 9"/>
          <p:cNvSpPr txBox="1"/>
          <p:nvPr/>
        </p:nvSpPr>
        <p:spPr>
          <a:xfrm>
            <a:off x="8869680" y="2240280"/>
            <a:ext cx="2560320" cy="548640"/>
          </a:xfrm>
          <a:prstGeom prst="rect">
            <a:avLst/>
          </a:prstGeom>
          <a:noFill/>
        </p:spPr>
        <p:txBody>
          <a:bodyPr wrap="square" lIns="0" rIns="0" tIns="0" bIns="0">
            <a:spAutoFit/>
          </a:bodyPr>
          <a:lstStyle/>
          <a:p>
            <a:r>
              <a:rPr sz="3200" b="1" i="0">
                <a:solidFill>
                  <a:srgbClr val="FFFFFF"/>
                </a:solidFill>
                <a:latin typeface="Cambria"/>
              </a:rPr>
              <a:t>25</a:t>
            </a:r>
          </a:p>
        </p:txBody>
      </p:sp>
      <p:sp>
        <p:nvSpPr>
          <p:cNvPr id="11" name="TextBox 10"/>
          <p:cNvSpPr txBox="1"/>
          <p:nvPr/>
        </p:nvSpPr>
        <p:spPr>
          <a:xfrm>
            <a:off x="8869680" y="2807208"/>
            <a:ext cx="2560320" cy="320040"/>
          </a:xfrm>
          <a:prstGeom prst="rect">
            <a:avLst/>
          </a:prstGeom>
          <a:noFill/>
        </p:spPr>
        <p:txBody>
          <a:bodyPr wrap="square" lIns="0" rIns="0" tIns="0" bIns="0">
            <a:spAutoFit/>
          </a:bodyPr>
          <a:lstStyle/>
          <a:p>
            <a:r>
              <a:rPr sz="1200" b="0" i="0">
                <a:solidFill>
                  <a:srgbClr val="9AA0A8"/>
                </a:solidFill>
                <a:latin typeface="Calibri"/>
              </a:rPr>
              <a:t>veri kalitesi kuralı</a:t>
            </a:r>
          </a:p>
        </p:txBody>
      </p:sp>
      <p:sp>
        <p:nvSpPr>
          <p:cNvPr id="12" name="TextBox 11"/>
          <p:cNvSpPr txBox="1"/>
          <p:nvPr/>
        </p:nvSpPr>
        <p:spPr>
          <a:xfrm>
            <a:off x="640080" y="3474720"/>
            <a:ext cx="2560320" cy="548640"/>
          </a:xfrm>
          <a:prstGeom prst="rect">
            <a:avLst/>
          </a:prstGeom>
          <a:noFill/>
        </p:spPr>
        <p:txBody>
          <a:bodyPr wrap="square" lIns="0" rIns="0" tIns="0" bIns="0">
            <a:spAutoFit/>
          </a:bodyPr>
          <a:lstStyle/>
          <a:p>
            <a:r>
              <a:rPr sz="3200" b="1" i="0">
                <a:solidFill>
                  <a:srgbClr val="FFFFFF"/>
                </a:solidFill>
                <a:latin typeface="Cambria"/>
              </a:rPr>
              <a:t>17</a:t>
            </a:r>
          </a:p>
        </p:txBody>
      </p:sp>
      <p:sp>
        <p:nvSpPr>
          <p:cNvPr id="13" name="TextBox 12"/>
          <p:cNvSpPr txBox="1"/>
          <p:nvPr/>
        </p:nvSpPr>
        <p:spPr>
          <a:xfrm>
            <a:off x="640080" y="4041648"/>
            <a:ext cx="2560320" cy="320040"/>
          </a:xfrm>
          <a:prstGeom prst="rect">
            <a:avLst/>
          </a:prstGeom>
          <a:noFill/>
        </p:spPr>
        <p:txBody>
          <a:bodyPr wrap="square" lIns="0" rIns="0" tIns="0" bIns="0">
            <a:spAutoFit/>
          </a:bodyPr>
          <a:lstStyle/>
          <a:p>
            <a:r>
              <a:rPr sz="1200" b="0" i="0">
                <a:solidFill>
                  <a:srgbClr val="9AA0A8"/>
                </a:solidFill>
                <a:latin typeface="Calibri"/>
              </a:rPr>
              <a:t>Gold tablosu</a:t>
            </a:r>
          </a:p>
        </p:txBody>
      </p:sp>
      <p:sp>
        <p:nvSpPr>
          <p:cNvPr id="14" name="TextBox 13"/>
          <p:cNvSpPr txBox="1"/>
          <p:nvPr/>
        </p:nvSpPr>
        <p:spPr>
          <a:xfrm>
            <a:off x="3383280" y="3474720"/>
            <a:ext cx="2560320" cy="548640"/>
          </a:xfrm>
          <a:prstGeom prst="rect">
            <a:avLst/>
          </a:prstGeom>
          <a:noFill/>
        </p:spPr>
        <p:txBody>
          <a:bodyPr wrap="square" lIns="0" rIns="0" tIns="0" bIns="0">
            <a:spAutoFit/>
          </a:bodyPr>
          <a:lstStyle/>
          <a:p>
            <a:r>
              <a:rPr sz="3200" b="1" i="0">
                <a:solidFill>
                  <a:srgbClr val="FFFFFF"/>
                </a:solidFill>
                <a:latin typeface="Cambria"/>
              </a:rPr>
              <a:t>9,5 M</a:t>
            </a:r>
          </a:p>
        </p:txBody>
      </p:sp>
      <p:sp>
        <p:nvSpPr>
          <p:cNvPr id="15" name="TextBox 14"/>
          <p:cNvSpPr txBox="1"/>
          <p:nvPr/>
        </p:nvSpPr>
        <p:spPr>
          <a:xfrm>
            <a:off x="3383280" y="4041648"/>
            <a:ext cx="2560320" cy="320040"/>
          </a:xfrm>
          <a:prstGeom prst="rect">
            <a:avLst/>
          </a:prstGeom>
          <a:noFill/>
        </p:spPr>
        <p:txBody>
          <a:bodyPr wrap="square" lIns="0" rIns="0" tIns="0" bIns="0">
            <a:spAutoFit/>
          </a:bodyPr>
          <a:lstStyle/>
          <a:p>
            <a:r>
              <a:rPr sz="1200" b="0" i="0">
                <a:solidFill>
                  <a:srgbClr val="9AA0A8"/>
                </a:solidFill>
                <a:latin typeface="Calibri"/>
              </a:rPr>
              <a:t>Gold satırı</a:t>
            </a:r>
          </a:p>
        </p:txBody>
      </p:sp>
      <p:sp>
        <p:nvSpPr>
          <p:cNvPr id="16" name="TextBox 15"/>
          <p:cNvSpPr txBox="1"/>
          <p:nvPr/>
        </p:nvSpPr>
        <p:spPr>
          <a:xfrm>
            <a:off x="6126480" y="3474720"/>
            <a:ext cx="2560320" cy="548640"/>
          </a:xfrm>
          <a:prstGeom prst="rect">
            <a:avLst/>
          </a:prstGeom>
          <a:noFill/>
        </p:spPr>
        <p:txBody>
          <a:bodyPr wrap="square" lIns="0" rIns="0" tIns="0" bIns="0">
            <a:spAutoFit/>
          </a:bodyPr>
          <a:lstStyle/>
          <a:p>
            <a:r>
              <a:rPr sz="3200" b="1" i="0">
                <a:solidFill>
                  <a:srgbClr val="FFFFFF"/>
                </a:solidFill>
                <a:latin typeface="Cambria"/>
              </a:rPr>
              <a:t>13</a:t>
            </a:r>
          </a:p>
        </p:txBody>
      </p:sp>
      <p:sp>
        <p:nvSpPr>
          <p:cNvPr id="17" name="TextBox 16"/>
          <p:cNvSpPr txBox="1"/>
          <p:nvPr/>
        </p:nvSpPr>
        <p:spPr>
          <a:xfrm>
            <a:off x="6126480" y="4041648"/>
            <a:ext cx="2560320" cy="320040"/>
          </a:xfrm>
          <a:prstGeom prst="rect">
            <a:avLst/>
          </a:prstGeom>
          <a:noFill/>
        </p:spPr>
        <p:txBody>
          <a:bodyPr wrap="square" lIns="0" rIns="0" tIns="0" bIns="0">
            <a:spAutoFit/>
          </a:bodyPr>
          <a:lstStyle/>
          <a:p>
            <a:r>
              <a:rPr sz="1200" b="0" i="0">
                <a:solidFill>
                  <a:srgbClr val="9AA0A8"/>
                </a:solidFill>
                <a:latin typeface="Calibri"/>
              </a:rPr>
              <a:t>DAX ölçüsü</a:t>
            </a:r>
          </a:p>
        </p:txBody>
      </p:sp>
      <p:sp>
        <p:nvSpPr>
          <p:cNvPr id="18" name="TextBox 17"/>
          <p:cNvSpPr txBox="1"/>
          <p:nvPr/>
        </p:nvSpPr>
        <p:spPr>
          <a:xfrm>
            <a:off x="8869680" y="3474720"/>
            <a:ext cx="2560320" cy="548640"/>
          </a:xfrm>
          <a:prstGeom prst="rect">
            <a:avLst/>
          </a:prstGeom>
          <a:noFill/>
        </p:spPr>
        <p:txBody>
          <a:bodyPr wrap="square" lIns="0" rIns="0" tIns="0" bIns="0">
            <a:spAutoFit/>
          </a:bodyPr>
          <a:lstStyle/>
          <a:p>
            <a:r>
              <a:rPr sz="3200" b="1" i="0">
                <a:solidFill>
                  <a:srgbClr val="BF5B26"/>
                </a:solidFill>
                <a:latin typeface="Cambria"/>
              </a:rPr>
              <a:t>18</a:t>
            </a:r>
          </a:p>
        </p:txBody>
      </p:sp>
      <p:sp>
        <p:nvSpPr>
          <p:cNvPr id="19" name="TextBox 18"/>
          <p:cNvSpPr txBox="1"/>
          <p:nvPr/>
        </p:nvSpPr>
        <p:spPr>
          <a:xfrm>
            <a:off x="8869680" y="4041648"/>
            <a:ext cx="2560320" cy="320040"/>
          </a:xfrm>
          <a:prstGeom prst="rect">
            <a:avLst/>
          </a:prstGeom>
          <a:noFill/>
        </p:spPr>
        <p:txBody>
          <a:bodyPr wrap="square" lIns="0" rIns="0" tIns="0" bIns="0">
            <a:spAutoFit/>
          </a:bodyPr>
          <a:lstStyle/>
          <a:p>
            <a:r>
              <a:rPr sz="1200" b="0" i="0">
                <a:solidFill>
                  <a:srgbClr val="9AA0A8"/>
                </a:solidFill>
                <a:latin typeface="Calibri"/>
              </a:rPr>
              <a:t>bulunan gerçek kusur</a:t>
            </a:r>
          </a:p>
        </p:txBody>
      </p:sp>
      <p:sp>
        <p:nvSpPr>
          <p:cNvPr id="20" name="Rectangle 19"/>
          <p:cNvSpPr/>
          <p:nvPr/>
        </p:nvSpPr>
        <p:spPr>
          <a:xfrm>
            <a:off x="640080" y="5029200"/>
            <a:ext cx="457200" cy="41148"/>
          </a:xfrm>
          <a:prstGeom prst="rect">
            <a:avLst/>
          </a:prstGeom>
          <a:solidFill>
            <a:srgbClr val="BF5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03520"/>
            <a:ext cx="9144000" cy="914400"/>
          </a:xfrm>
          <a:prstGeom prst="rect">
            <a:avLst/>
          </a:prstGeom>
          <a:noFill/>
        </p:spPr>
        <p:txBody>
          <a:bodyPr wrap="square" lIns="0" rIns="0" tIns="0" bIns="0">
            <a:spAutoFit/>
          </a:bodyPr>
          <a:lstStyle/>
          <a:p>
            <a:pPr>
              <a:lnSpc>
                <a:spcPts val="2200"/>
              </a:lnSpc>
            </a:pPr>
            <a:r>
              <a:rPr sz="1400" b="0" i="1">
                <a:solidFill>
                  <a:srgbClr val="C9CCD2"/>
                </a:solidFill>
                <a:latin typeface="Cambria"/>
              </a:rPr>
              <a:t>Jeneratörün çıktısı, kusur enjekte edilmeden önce kanıtlanabilir biçimde temiz. Bu yüzden platformun bulduğu her kusur oraya bilerek konmuş bir kusur ve bir cevap anahtarına karşı puanlanabiliyor — bu projedeki her sayıyı anlamlı kılan tek şey de bu.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